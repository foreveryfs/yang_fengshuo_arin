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6f9e470d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6f9e47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8f4f2d03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8f4f2d03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8f4f2d032_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8f4f2d032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8f4f2d032_4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8f4f2d032_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8f4f2d032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8f4f2d032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8f4f2d032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8f4f2d032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8f4f2d032_5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8f4f2d032_5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f4f2d032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8f4f2d032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8f4f2d032_7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8f4f2d032_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8f4f2d032_7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8f4f2d032_7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8f4f2d032_7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8f4f2d032_7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8f4f2d032_7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8f4f2d032_7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8e59b304e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8e59b304e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8e59b304e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a8e59b304e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VhTywodjkJmTmya5TcYFNugFByrQ3MwR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drive.google.com/file/d/1MDpvjFnoBf7AwArMfq2xDyF9uoZRSVs3/view" TargetMode="External"/><Relationship Id="rId6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9Vkx2CLQXJiOUHpxyYOaZox9AqMPVprt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drive.google.com/file/d/1zdZLoPg1HlannT6s4qNJtxEvHpsPUaki/view" TargetMode="External"/><Relationship Id="rId6" Type="http://schemas.openxmlformats.org/officeDocument/2006/relationships/hyperlink" Target="http://drive.google.com/file/d/1kH-_FoXw4tJ89xdoGJp-1fr7TOk_0EBH/view" TargetMode="External"/><Relationship Id="rId7" Type="http://schemas.openxmlformats.org/officeDocument/2006/relationships/hyperlink" Target="http://drive.google.com/file/d/18PdKV9iKpnC-rrRs8QNipMzvf4xcjSWK/view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0" y="806875"/>
            <a:ext cx="9144000" cy="26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4000"/>
              <a:t>A generative model towards   </a:t>
            </a:r>
            <a:endParaRPr b="1"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4000"/>
              <a:t>high-quality  text-to-speech synthesis </a:t>
            </a:r>
            <a:endParaRPr b="1"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4000"/>
              <a:t>using normalizing flow</a:t>
            </a:r>
            <a:endParaRPr b="1" sz="400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266675" y="3243800"/>
            <a:ext cx="21672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HK" sz="2000"/>
              <a:t>G</a:t>
            </a:r>
            <a:r>
              <a:rPr b="1" i="1" lang="zh-HK" sz="2000"/>
              <a:t>roup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HK" sz="2000"/>
              <a:t>Yulou Liu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HK" sz="2000"/>
              <a:t>Fengshuo Yang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HK" sz="2000"/>
              <a:t>Yixun Zhu</a:t>
            </a:r>
            <a:endParaRPr b="1" i="1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/>
              <a:t>Idea &amp; Background</a:t>
            </a:r>
            <a:endParaRPr/>
          </a:p>
        </p:txBody>
      </p:sp>
      <p:grpSp>
        <p:nvGrpSpPr>
          <p:cNvPr id="92" name="Google Shape;92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3" name="Google Shape;93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>
                <a:solidFill>
                  <a:schemeClr val="lt1"/>
                </a:solidFill>
              </a:rPr>
              <a:t>Introduction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431800" y="1850300"/>
            <a:ext cx="26289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HK" sz="1600"/>
              <a:t>Research in text-to-speech systems dates back decades.</a:t>
            </a:r>
            <a:endParaRPr sz="1600"/>
          </a:p>
        </p:txBody>
      </p:sp>
      <p:grpSp>
        <p:nvGrpSpPr>
          <p:cNvPr id="97" name="Google Shape;97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98" name="Google Shape;98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>
                <a:solidFill>
                  <a:schemeClr val="lt1"/>
                </a:solidFill>
              </a:rPr>
              <a:t>Related work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320575" y="1850300"/>
            <a:ext cx="26325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HK" sz="1500"/>
              <a:t>Tacotron 2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HK" sz="1500"/>
              <a:t>Autoregressive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HK" sz="1500"/>
              <a:t>soft attention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HK" sz="1500"/>
              <a:t>Transformer TT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HK" sz="1500"/>
              <a:t>Autoregressive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HK" sz="1500"/>
              <a:t>No meaningful latent space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HK" sz="1500"/>
              <a:t>Deep Voice 3 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HK" sz="1500"/>
              <a:t>large model and more components</a:t>
            </a:r>
            <a:endParaRPr sz="1500"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03" name="Google Shape;103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>
                <a:solidFill>
                  <a:schemeClr val="lt1"/>
                </a:solidFill>
              </a:rPr>
              <a:t>Improvement direction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4"/>
          <p:cNvSpPr txBox="1"/>
          <p:nvPr>
            <p:ph idx="4294967295" type="body"/>
          </p:nvPr>
        </p:nvSpPr>
        <p:spPr>
          <a:xfrm>
            <a:off x="6212550" y="1766275"/>
            <a:ext cx="2632500" cy="28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HK" sz="1600"/>
              <a:t>we will implement a flow-based neural network for speech synthesis.</a:t>
            </a:r>
            <a:endParaRPr sz="1600"/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00" y="3298070"/>
            <a:ext cx="2494501" cy="134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7575" y="2731800"/>
            <a:ext cx="2024300" cy="19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265500" y="205875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Pipeline overview</a:t>
            </a:r>
            <a:endParaRPr b="1"/>
          </a:p>
        </p:txBody>
      </p:sp>
      <p:sp>
        <p:nvSpPr>
          <p:cNvPr id="114" name="Google Shape;114;p15"/>
          <p:cNvSpPr txBox="1"/>
          <p:nvPr>
            <p:ph idx="1" type="subTitle"/>
          </p:nvPr>
        </p:nvSpPr>
        <p:spPr>
          <a:xfrm>
            <a:off x="4481025" y="401850"/>
            <a:ext cx="4572000" cy="13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800">
                <a:solidFill>
                  <a:srgbClr val="FF0000"/>
                </a:solidFill>
              </a:rPr>
              <a:t>Text 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800">
                <a:solidFill>
                  <a:srgbClr val="FF0000"/>
                </a:solidFill>
              </a:rPr>
              <a:t>→ Linguistic Features 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800">
                <a:solidFill>
                  <a:srgbClr val="FF0000"/>
                </a:solidFill>
              </a:rPr>
              <a:t>→ Acoustic Features(Mel-Spectrogram) 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800">
                <a:solidFill>
                  <a:srgbClr val="FF0000"/>
                </a:solidFill>
              </a:rPr>
              <a:t>→ Speech Waveform</a:t>
            </a:r>
            <a:endParaRPr b="1" sz="1800">
              <a:solidFill>
                <a:srgbClr val="FF0000"/>
              </a:solidFill>
            </a:endParaRPr>
          </a:p>
        </p:txBody>
      </p:sp>
      <p:pic>
        <p:nvPicPr>
          <p:cNvPr id="115" name="Google Shape;115;p15" title="general-pipelin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38" y="2540575"/>
            <a:ext cx="8760925" cy="164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时间轴图形中的背景指针形状" id="120" name="Google Shape;120;p16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 txBox="1"/>
          <p:nvPr>
            <p:ph idx="4294967295" type="body"/>
          </p:nvPr>
        </p:nvSpPr>
        <p:spPr>
          <a:xfrm>
            <a:off x="340925" y="2336550"/>
            <a:ext cx="16512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Text Normalization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22" name="Google Shape;122;p16"/>
          <p:cNvGrpSpPr/>
          <p:nvPr/>
        </p:nvGrpSpPr>
        <p:grpSpPr>
          <a:xfrm>
            <a:off x="969270" y="1610215"/>
            <a:ext cx="198900" cy="593656"/>
            <a:chOff x="777447" y="1610215"/>
            <a:chExt cx="198900" cy="593656"/>
          </a:xfrm>
        </p:grpSpPr>
        <p:cxnSp>
          <p:nvCxnSpPr>
            <p:cNvPr id="123" name="Google Shape;123;p16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" name="Google Shape;124;p16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6"/>
          <p:cNvSpPr txBox="1"/>
          <p:nvPr>
            <p:ph idx="4294967295" type="body"/>
          </p:nvPr>
        </p:nvSpPr>
        <p:spPr>
          <a:xfrm>
            <a:off x="155675" y="626042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b="1" lang="zh-HK" sz="1400">
                <a:solidFill>
                  <a:srgbClr val="FF0000"/>
                </a:solidFill>
              </a:rPr>
              <a:t>number</a:t>
            </a:r>
            <a:endParaRPr b="1" sz="1400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b="1" lang="zh-HK" sz="1400">
                <a:solidFill>
                  <a:srgbClr val="FF0000"/>
                </a:solidFill>
              </a:rPr>
              <a:t>symbol</a:t>
            </a:r>
            <a:endParaRPr b="1" sz="1400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b="1" lang="zh-HK" sz="1400">
                <a:solidFill>
                  <a:srgbClr val="FF0000"/>
                </a:solidFill>
              </a:rPr>
              <a:t>abbreviation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descr="时间轴图形中的背景指针形状" id="126" name="Google Shape;126;p16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>
            <p:ph idx="4294967295" type="body"/>
          </p:nvPr>
        </p:nvSpPr>
        <p:spPr>
          <a:xfrm>
            <a:off x="2126326" y="2336550"/>
            <a:ext cx="14487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Word Segmentation and Phonemization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28" name="Google Shape;128;p16"/>
          <p:cNvGrpSpPr/>
          <p:nvPr/>
        </p:nvGrpSpPr>
        <p:grpSpPr>
          <a:xfrm>
            <a:off x="2684632" y="2938958"/>
            <a:ext cx="198900" cy="593656"/>
            <a:chOff x="2223534" y="2938958"/>
            <a:chExt cx="198900" cy="593656"/>
          </a:xfrm>
        </p:grpSpPr>
        <p:cxnSp>
          <p:nvCxnSpPr>
            <p:cNvPr id="129" name="Google Shape;129;p16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" name="Google Shape;130;p16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6"/>
          <p:cNvSpPr txBox="1"/>
          <p:nvPr>
            <p:ph idx="4294967295" type="body"/>
          </p:nvPr>
        </p:nvSpPr>
        <p:spPr>
          <a:xfrm>
            <a:off x="1168175" y="3532625"/>
            <a:ext cx="3141300" cy="15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b="1" lang="zh-HK" sz="1500">
                <a:solidFill>
                  <a:srgbClr val="FF0000"/>
                </a:solidFill>
              </a:rPr>
              <a:t>I love TTS → AY1/L AH1 V/T T S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b="1" lang="zh-HK" sz="1500">
                <a:solidFill>
                  <a:srgbClr val="FF0000"/>
                </a:solidFill>
              </a:rPr>
              <a:t>love → L AH1 V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descr="时间轴图形中的背景指针形状" id="132" name="Google Shape;132;p16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 txBox="1"/>
          <p:nvPr>
            <p:ph idx="4294967295" type="body"/>
          </p:nvPr>
        </p:nvSpPr>
        <p:spPr>
          <a:xfrm>
            <a:off x="3767750" y="2336550"/>
            <a:ext cx="14487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Mel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-Spectrogram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34" name="Google Shape;134;p16"/>
          <p:cNvGrpSpPr/>
          <p:nvPr/>
        </p:nvGrpSpPr>
        <p:grpSpPr>
          <a:xfrm>
            <a:off x="4319545" y="1610215"/>
            <a:ext cx="198900" cy="593656"/>
            <a:chOff x="3918084" y="1610215"/>
            <a:chExt cx="198900" cy="593656"/>
          </a:xfrm>
        </p:grpSpPr>
        <p:cxnSp>
          <p:nvCxnSpPr>
            <p:cNvPr id="135" name="Google Shape;135;p16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6" name="Google Shape;136;p16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16"/>
          <p:cNvSpPr txBox="1"/>
          <p:nvPr>
            <p:ph idx="4294967295" type="body"/>
          </p:nvPr>
        </p:nvSpPr>
        <p:spPr>
          <a:xfrm>
            <a:off x="2953875" y="0"/>
            <a:ext cx="2785800" cy="18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300">
                <a:solidFill>
                  <a:srgbClr val="FF0000"/>
                </a:solidFill>
              </a:rPr>
              <a:t>→ Input: Phoneme sequence after text parsing + prosodic features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HK" sz="1300">
                <a:solidFill>
                  <a:srgbClr val="FF0000"/>
                </a:solidFill>
              </a:rPr>
              <a:t>→ Output: Time-step aligned Mel-spectrogram 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zh-HK" sz="1300">
                <a:solidFill>
                  <a:srgbClr val="FF0000"/>
                </a:solidFill>
              </a:rPr>
              <a:t>Flow-based model (Glow)</a:t>
            </a:r>
            <a:endParaRPr b="1" sz="1300">
              <a:solidFill>
                <a:srgbClr val="FF0000"/>
              </a:solidFill>
            </a:endParaRPr>
          </a:p>
        </p:txBody>
      </p:sp>
      <p:sp>
        <p:nvSpPr>
          <p:cNvPr descr="时间轴图形中的背景指针形状" id="138" name="Google Shape;138;p16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 txBox="1"/>
          <p:nvPr>
            <p:ph idx="4294967295" type="body"/>
          </p:nvPr>
        </p:nvSpPr>
        <p:spPr>
          <a:xfrm>
            <a:off x="5416700" y="2336550"/>
            <a:ext cx="14487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Alignment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40" name="Google Shape;140;p16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141" name="Google Shape;141;p16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" name="Google Shape;142;p16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16"/>
          <p:cNvSpPr txBox="1"/>
          <p:nvPr>
            <p:ph idx="4294967295" type="body"/>
          </p:nvPr>
        </p:nvSpPr>
        <p:spPr>
          <a:xfrm>
            <a:off x="4572000" y="3532625"/>
            <a:ext cx="32607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zh-HK" sz="1400">
                <a:solidFill>
                  <a:srgbClr val="FF0000"/>
                </a:solidFill>
              </a:rPr>
              <a:t>Module: Monotonic Alignment Search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descr="时间轴图形中的背景指针形状" id="144" name="Google Shape;144;p16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 txBox="1"/>
          <p:nvPr>
            <p:ph idx="4294967295" type="body"/>
          </p:nvPr>
        </p:nvSpPr>
        <p:spPr>
          <a:xfrm>
            <a:off x="7065650" y="2336550"/>
            <a:ext cx="16512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Vocoder Reconstruction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46" name="Google Shape;146;p16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47" name="Google Shape;147;p16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" name="Google Shape;148;p16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6"/>
          <p:cNvSpPr txBox="1"/>
          <p:nvPr>
            <p:ph idx="4294967295" type="body"/>
          </p:nvPr>
        </p:nvSpPr>
        <p:spPr>
          <a:xfrm>
            <a:off x="6435775" y="0"/>
            <a:ext cx="2397300" cy="20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300">
                <a:solidFill>
                  <a:srgbClr val="FF0000"/>
                </a:solidFill>
              </a:rPr>
              <a:t>→ </a:t>
            </a:r>
            <a:r>
              <a:rPr b="1" lang="zh-HK" sz="1300">
                <a:solidFill>
                  <a:srgbClr val="FF0000"/>
                </a:solidFill>
              </a:rPr>
              <a:t>Input: Model-generated Mel-spectrogram 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HK" sz="1300">
                <a:solidFill>
                  <a:srgbClr val="FF0000"/>
                </a:solidFill>
              </a:rPr>
              <a:t>→ Output: speech waveform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zh-HK" sz="1300">
                <a:solidFill>
                  <a:srgbClr val="FF0000"/>
                </a:solidFill>
              </a:rPr>
              <a:t>Module: WaveGlow</a:t>
            </a:r>
            <a:endParaRPr b="1" sz="1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265500" y="382675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Dataset Preparation</a:t>
            </a:r>
            <a:endParaRPr b="1"/>
          </a:p>
        </p:txBody>
      </p:sp>
      <p:sp>
        <p:nvSpPr>
          <p:cNvPr id="155" name="Google Shape;155;p17"/>
          <p:cNvSpPr txBox="1"/>
          <p:nvPr>
            <p:ph idx="1" type="subTitle"/>
          </p:nvPr>
        </p:nvSpPr>
        <p:spPr>
          <a:xfrm>
            <a:off x="4807500" y="467998"/>
            <a:ext cx="4045200" cy="29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zh-HK" sz="2500">
                <a:solidFill>
                  <a:schemeClr val="lt1"/>
                </a:solidFill>
              </a:rPr>
              <a:t>LJ Speech dataset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zh-HK" sz="2500">
                <a:solidFill>
                  <a:schemeClr val="lt1"/>
                </a:solidFill>
              </a:rPr>
              <a:t>13,100 short audio clips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zh-HK" sz="2500">
                <a:solidFill>
                  <a:schemeClr val="lt1"/>
                </a:solidFill>
              </a:rPr>
              <a:t>Each clip is paired with a text transcription</a:t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id="156" name="Google Shape;156;p17" title="Screenshot from 2025-11-23 20-28-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550" y="3456575"/>
            <a:ext cx="7729250" cy="4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265500" y="382675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Symbol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table</a:t>
            </a:r>
            <a:endParaRPr b="1"/>
          </a:p>
        </p:txBody>
      </p:sp>
      <p:sp>
        <p:nvSpPr>
          <p:cNvPr id="162" name="Google Shape;162;p18"/>
          <p:cNvSpPr txBox="1"/>
          <p:nvPr>
            <p:ph idx="1" type="subTitle"/>
          </p:nvPr>
        </p:nvSpPr>
        <p:spPr>
          <a:xfrm>
            <a:off x="4930250" y="382673"/>
            <a:ext cx="4045200" cy="29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zh-HK" sz="2500">
                <a:solidFill>
                  <a:schemeClr val="lt1"/>
                </a:solidFill>
              </a:rPr>
              <a:t>special character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zh-HK" sz="2500">
                <a:solidFill>
                  <a:schemeClr val="lt1"/>
                </a:solidFill>
              </a:rPr>
              <a:t>alphabets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zh-HK" sz="2500">
                <a:solidFill>
                  <a:schemeClr val="lt1"/>
                </a:solidFill>
              </a:rPr>
              <a:t>phonemes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zh-HK" sz="2500">
                <a:solidFill>
                  <a:schemeClr val="lt1"/>
                </a:solidFill>
              </a:rPr>
              <a:t>size of 149</a:t>
            </a:r>
            <a:endParaRPr sz="2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pic>
        <p:nvPicPr>
          <p:cNvPr id="163" name="Google Shape;1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075" y="2394075"/>
            <a:ext cx="7697851" cy="138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402275" y="112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Text normalization</a:t>
            </a:r>
            <a:endParaRPr b="1"/>
          </a:p>
        </p:txBody>
      </p:sp>
      <p:sp>
        <p:nvSpPr>
          <p:cNvPr id="169" name="Google Shape;169;p19"/>
          <p:cNvSpPr txBox="1"/>
          <p:nvPr>
            <p:ph idx="1" type="subTitle"/>
          </p:nvPr>
        </p:nvSpPr>
        <p:spPr>
          <a:xfrm>
            <a:off x="277775" y="1947175"/>
            <a:ext cx="4294200" cy="29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2200">
                <a:solidFill>
                  <a:srgbClr val="0F1115"/>
                </a:solidFill>
              </a:rPr>
              <a:t>—— </a:t>
            </a:r>
            <a:r>
              <a:rPr b="1" lang="zh-HK" sz="1900">
                <a:solidFill>
                  <a:srgbClr val="0F1115"/>
                </a:solidFill>
              </a:rPr>
              <a:t>Perform phonemic transcription</a:t>
            </a:r>
            <a:endParaRPr b="1" sz="1900">
              <a:solidFill>
                <a:srgbClr val="0F111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F1115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Char char="●"/>
            </a:pPr>
            <a:r>
              <a:rPr lang="zh-HK" sz="2000">
                <a:solidFill>
                  <a:srgbClr val="0F1115"/>
                </a:solidFill>
                <a:highlight>
                  <a:srgbClr val="FFFFFF"/>
                </a:highlight>
              </a:rPr>
              <a:t>Between -&gt; B IH0 T W IY1 N</a:t>
            </a:r>
            <a:endParaRPr sz="20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Char char="●"/>
            </a:pPr>
            <a:r>
              <a:rPr lang="zh-HK" sz="2000">
                <a:solidFill>
                  <a:srgbClr val="0F1115"/>
                </a:solidFill>
                <a:highlight>
                  <a:srgbClr val="FFFFFF"/>
                </a:highlight>
              </a:rPr>
              <a:t>the -&gt; DH AH0</a:t>
            </a:r>
            <a:endParaRPr sz="20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Char char="●"/>
            </a:pPr>
            <a:r>
              <a:rPr lang="zh-HK" sz="2000">
                <a:solidFill>
                  <a:srgbClr val="0F1115"/>
                </a:solidFill>
                <a:highlight>
                  <a:srgbClr val="FFFFFF"/>
                </a:highlight>
              </a:rPr>
              <a:t>hours -&gt; AW1 ER0 Z</a:t>
            </a:r>
            <a:endParaRPr sz="20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Char char="●"/>
            </a:pPr>
            <a:r>
              <a:rPr lang="zh-HK" sz="2000">
                <a:solidFill>
                  <a:srgbClr val="0F1115"/>
                </a:solidFill>
                <a:highlight>
                  <a:srgbClr val="FFFFFF"/>
                </a:highlight>
              </a:rPr>
              <a:t>of -&gt; AH1 V</a:t>
            </a:r>
            <a:endParaRPr sz="20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Char char="●"/>
            </a:pPr>
            <a:r>
              <a:rPr lang="zh-HK" sz="2000">
                <a:solidFill>
                  <a:srgbClr val="0F1115"/>
                </a:solidFill>
                <a:highlight>
                  <a:srgbClr val="FFFFFF"/>
                </a:highlight>
              </a:rPr>
              <a:t>eights -&gt; EY1 T</a:t>
            </a:r>
            <a:endParaRPr sz="20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  <p:sp>
        <p:nvSpPr>
          <p:cNvPr id="170" name="Google Shape;170;p19"/>
          <p:cNvSpPr txBox="1"/>
          <p:nvPr>
            <p:ph idx="1" type="subTitle"/>
          </p:nvPr>
        </p:nvSpPr>
        <p:spPr>
          <a:xfrm>
            <a:off x="4571975" y="1947175"/>
            <a:ext cx="4294200" cy="29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900">
                <a:solidFill>
                  <a:schemeClr val="lt1"/>
                </a:solidFill>
              </a:rPr>
              <a:t>—— Each unit is then converted to an index, which points to the character in the symbol table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57800" y="620475"/>
            <a:ext cx="4469700" cy="13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Text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Encoder</a:t>
            </a:r>
            <a:endParaRPr b="1"/>
          </a:p>
        </p:txBody>
      </p:sp>
      <p:sp>
        <p:nvSpPr>
          <p:cNvPr id="176" name="Google Shape;176;p20"/>
          <p:cNvSpPr txBox="1"/>
          <p:nvPr>
            <p:ph idx="1" type="subTitle"/>
          </p:nvPr>
        </p:nvSpPr>
        <p:spPr>
          <a:xfrm>
            <a:off x="224300" y="2697525"/>
            <a:ext cx="44193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/>
              <a:t>✪</a:t>
            </a:r>
            <a:r>
              <a:rPr lang="zh-HK" sz="2000"/>
              <a:t>Input text sequence first go through an embedding layer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/>
              <a:t>——</a:t>
            </a:r>
            <a:r>
              <a:rPr lang="zh-HK" sz="2000"/>
              <a:t>where each unit projects to a hidden dimension of size 192</a:t>
            </a:r>
            <a:endParaRPr sz="2000"/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425" y="523025"/>
            <a:ext cx="4195602" cy="409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57800" y="520400"/>
            <a:ext cx="4469700" cy="7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Prenet</a:t>
            </a:r>
            <a:endParaRPr b="1"/>
          </a:p>
        </p:txBody>
      </p:sp>
      <p:sp>
        <p:nvSpPr>
          <p:cNvPr id="183" name="Google Shape;183;p21"/>
          <p:cNvSpPr txBox="1"/>
          <p:nvPr>
            <p:ph idx="1" type="subTitle"/>
          </p:nvPr>
        </p:nvSpPr>
        <p:spPr>
          <a:xfrm>
            <a:off x="270050" y="1723700"/>
            <a:ext cx="4045200" cy="31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HK"/>
              <a:t>Kernel size 5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HK">
                <a:solidFill>
                  <a:srgbClr val="0F1115"/>
                </a:solidFill>
                <a:highlight>
                  <a:srgbClr val="FFFFFF"/>
                </a:highlight>
              </a:rPr>
              <a:t>Learn local pronunciation rules. 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HK">
                <a:solidFill>
                  <a:srgbClr val="0F1115"/>
                </a:solidFill>
                <a:highlight>
                  <a:srgbClr val="FFFFFF"/>
                </a:highlight>
              </a:rPr>
              <a:t>It mixes information from neighboring characters to create a context-aware representation for each position.</a:t>
            </a:r>
            <a:endParaRPr/>
          </a:p>
        </p:txBody>
      </p:sp>
      <p:pic>
        <p:nvPicPr>
          <p:cNvPr id="184" name="Google Shape;184;p21" title="Pren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1225" y="1045500"/>
            <a:ext cx="315277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157250" y="252200"/>
            <a:ext cx="4158000" cy="134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Transformer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-Encoder</a:t>
            </a:r>
            <a:endParaRPr b="1"/>
          </a:p>
        </p:txBody>
      </p:sp>
      <p:sp>
        <p:nvSpPr>
          <p:cNvPr id="190" name="Google Shape;190;p22"/>
          <p:cNvSpPr txBox="1"/>
          <p:nvPr>
            <p:ph idx="1" type="subTitle"/>
          </p:nvPr>
        </p:nvSpPr>
        <p:spPr>
          <a:xfrm>
            <a:off x="64725" y="1612800"/>
            <a:ext cx="4507200" cy="33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HK"/>
              <a:t>Only mean prediction, no sigma.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HK">
                <a:solidFill>
                  <a:srgbClr val="0F1115"/>
                </a:solidFill>
                <a:highlight>
                  <a:srgbClr val="FFFFFF"/>
                </a:highlight>
              </a:rPr>
              <a:t>the prior distribution is not a learned Gaussian for each phoneme,  but a fixed, global distribution that the model aligns to.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HK">
                <a:solidFill>
                  <a:srgbClr val="0F1115"/>
                </a:solidFill>
                <a:highlight>
                  <a:srgbClr val="FFFFFF"/>
                </a:highlight>
              </a:rPr>
              <a:t>Only needs to predict the mean (</a:t>
            </a:r>
            <a:r>
              <a:rPr lang="zh-HK">
                <a:solidFill>
                  <a:srgbClr val="0F1115"/>
                </a:solidFill>
                <a:highlight>
                  <a:srgbClr val="EBEEF2"/>
                </a:highlight>
                <a:latin typeface="Courier New"/>
                <a:ea typeface="Courier New"/>
                <a:cs typeface="Courier New"/>
                <a:sym typeface="Courier New"/>
              </a:rPr>
              <a:t>proj_m</a:t>
            </a:r>
            <a:r>
              <a:rPr lang="zh-HK">
                <a:solidFill>
                  <a:srgbClr val="0F1115"/>
                </a:solidFill>
                <a:highlight>
                  <a:srgbClr val="FFFFFF"/>
                </a:highlight>
              </a:rPr>
              <a:t>) to guide this alignment.</a:t>
            </a:r>
            <a:endParaRPr/>
          </a:p>
        </p:txBody>
      </p:sp>
      <p:pic>
        <p:nvPicPr>
          <p:cNvPr id="191" name="Google Shape;191;p22" title="text_encoder_no_sigma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150" y="152400"/>
            <a:ext cx="302418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57800" y="190825"/>
            <a:ext cx="4469700" cy="14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Mel-spectorgram Decoder</a:t>
            </a:r>
            <a:endParaRPr b="1"/>
          </a:p>
        </p:txBody>
      </p:sp>
      <p:sp>
        <p:nvSpPr>
          <p:cNvPr id="197" name="Google Shape;197;p23"/>
          <p:cNvSpPr txBox="1"/>
          <p:nvPr>
            <p:ph idx="1" type="subTitle"/>
          </p:nvPr>
        </p:nvSpPr>
        <p:spPr>
          <a:xfrm>
            <a:off x="57800" y="1813675"/>
            <a:ext cx="4469700" cy="25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HK">
                <a:solidFill>
                  <a:srgbClr val="0F1115"/>
                </a:solidFill>
                <a:highlight>
                  <a:srgbClr val="FFFFFF"/>
                </a:highlight>
              </a:rPr>
              <a:t>Normalizing flow based decoder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HK">
                <a:solidFill>
                  <a:srgbClr val="0F1115"/>
                </a:solidFill>
                <a:highlight>
                  <a:srgbClr val="FFFFFF"/>
                </a:highlight>
              </a:rPr>
              <a:t>Transforms mel-spectrograms from simple prior distribution to the complex data distribution.</a:t>
            </a:r>
            <a:endParaRPr/>
          </a:p>
        </p:txBody>
      </p:sp>
      <p:pic>
        <p:nvPicPr>
          <p:cNvPr id="198" name="Google Shape;198;p23" title="FlowDecoder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5100" y="202300"/>
            <a:ext cx="2467475" cy="47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34625" y="190825"/>
            <a:ext cx="4935600" cy="14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More </a:t>
            </a:r>
            <a:r>
              <a:rPr b="1" lang="zh-HK"/>
              <a:t>on</a:t>
            </a:r>
            <a:r>
              <a:rPr b="1" lang="zh-HK"/>
              <a:t>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Decoder</a:t>
            </a:r>
            <a:endParaRPr b="1"/>
          </a:p>
        </p:txBody>
      </p:sp>
      <p:sp>
        <p:nvSpPr>
          <p:cNvPr id="204" name="Google Shape;204;p24"/>
          <p:cNvSpPr txBox="1"/>
          <p:nvPr>
            <p:ph idx="1" type="subTitle"/>
          </p:nvPr>
        </p:nvSpPr>
        <p:spPr>
          <a:xfrm>
            <a:off x="34625" y="1813675"/>
            <a:ext cx="4537200" cy="25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HK" sz="1900">
                <a:solidFill>
                  <a:srgbClr val="0F1115"/>
                </a:solidFill>
                <a:highlight>
                  <a:srgbClr val="FFFFFF"/>
                </a:highlight>
              </a:rPr>
              <a:t>Bijective mapping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900"/>
              <a:buChar char="○"/>
            </a:pPr>
            <a:r>
              <a:rPr lang="zh-HK" sz="1900">
                <a:solidFill>
                  <a:srgbClr val="0F1115"/>
                </a:solidFill>
                <a:highlight>
                  <a:srgbClr val="FFFFFF"/>
                </a:highlight>
              </a:rPr>
              <a:t>one-to-one relationship between latent representations and mel-spectrograms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900"/>
              <a:buChar char="●"/>
            </a:pPr>
            <a:r>
              <a:rPr lang="zh-HK" sz="1900">
                <a:solidFill>
                  <a:srgbClr val="0F1115"/>
                </a:solidFill>
                <a:highlight>
                  <a:srgbClr val="FFFFFF"/>
                </a:highlight>
              </a:rPr>
              <a:t>Channel squeeze and unsqueeze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  <p:pic>
        <p:nvPicPr>
          <p:cNvPr id="205" name="Google Shape;205;p24" title="Screenshot from 2025-11-23 21-41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400" y="1287450"/>
            <a:ext cx="36290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4" title="Screenshot from 2025-11-23 21-46-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400" y="3117200"/>
            <a:ext cx="4323375" cy="122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type="title"/>
          </p:nvPr>
        </p:nvSpPr>
        <p:spPr>
          <a:xfrm>
            <a:off x="57800" y="171875"/>
            <a:ext cx="4469700" cy="14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Monotonic Alignment Search</a:t>
            </a:r>
            <a:endParaRPr b="1"/>
          </a:p>
        </p:txBody>
      </p:sp>
      <p:sp>
        <p:nvSpPr>
          <p:cNvPr id="212" name="Google Shape;212;p25"/>
          <p:cNvSpPr txBox="1"/>
          <p:nvPr>
            <p:ph idx="1" type="subTitle"/>
          </p:nvPr>
        </p:nvSpPr>
        <p:spPr>
          <a:xfrm>
            <a:off x="57800" y="1638575"/>
            <a:ext cx="4414200" cy="3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800"/>
              <a:buChar char="●"/>
            </a:pPr>
            <a:r>
              <a:rPr lang="zh-HK" sz="1800">
                <a:solidFill>
                  <a:srgbClr val="0F1115"/>
                </a:solidFill>
                <a:highlight>
                  <a:srgbClr val="FFFFFF"/>
                </a:highlight>
              </a:rPr>
              <a:t>Text encoder learns to cluster mean(</a:t>
            </a:r>
            <a:r>
              <a:rPr lang="zh-HK" sz="1800">
                <a:solidFill>
                  <a:srgbClr val="0F1115"/>
                </a:solidFill>
                <a:highlight>
                  <a:srgbClr val="EBEEF2"/>
                </a:highlight>
                <a:latin typeface="Courier New"/>
                <a:ea typeface="Courier New"/>
                <a:cs typeface="Courier New"/>
                <a:sym typeface="Courier New"/>
              </a:rPr>
              <a:t>proj_m</a:t>
            </a:r>
            <a:r>
              <a:rPr lang="zh-HK" sz="1800">
                <a:solidFill>
                  <a:srgbClr val="0F1115"/>
                </a:solidFill>
                <a:highlight>
                  <a:srgbClr val="FFFFFF"/>
                </a:highlight>
              </a:rPr>
              <a:t>)for same phonemes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800"/>
              <a:buChar char="●"/>
            </a:pPr>
            <a:r>
              <a:rPr lang="zh-HK" sz="1800">
                <a:solidFill>
                  <a:srgbClr val="0F1115"/>
                </a:solidFill>
                <a:highlight>
                  <a:srgbClr val="FFFFFF"/>
                </a:highlight>
              </a:rPr>
              <a:t>Flow learns to map similar sounds to similar </a:t>
            </a:r>
            <a:r>
              <a:rPr lang="zh-HK" sz="1800">
                <a:solidFill>
                  <a:srgbClr val="0F1115"/>
                </a:solidFill>
                <a:highlight>
                  <a:srgbClr val="EBEEF2"/>
                </a:highlight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zh-HK" sz="1800">
                <a:solidFill>
                  <a:srgbClr val="0F1115"/>
                </a:solidFill>
                <a:highlight>
                  <a:srgbClr val="FFFFFF"/>
                </a:highlight>
              </a:rPr>
              <a:t> regions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800"/>
              <a:buChar char="●"/>
            </a:pPr>
            <a:r>
              <a:rPr lang="zh-HK" sz="1800">
                <a:solidFill>
                  <a:srgbClr val="0F1115"/>
                </a:solidFill>
                <a:highlight>
                  <a:srgbClr val="FFFFFF"/>
                </a:highlight>
              </a:rPr>
              <a:t>Distance matrix starts showing diagonal-like structure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  <p:pic>
        <p:nvPicPr>
          <p:cNvPr id="213" name="Google Shape;213;p25" title="Screenshot from 2025-11-23 21-52-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600" y="650625"/>
            <a:ext cx="4201800" cy="33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idx="1" type="subTitle"/>
          </p:nvPr>
        </p:nvSpPr>
        <p:spPr>
          <a:xfrm>
            <a:off x="270050" y="1813675"/>
            <a:ext cx="4302000" cy="3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2000"/>
              <a:buChar char="●"/>
            </a:pPr>
            <a:r>
              <a:rPr lang="zh-HK" sz="2000">
                <a:solidFill>
                  <a:srgbClr val="0F1115"/>
                </a:solidFill>
                <a:highlight>
                  <a:srgbClr val="FFFFFF"/>
                </a:highlight>
              </a:rPr>
              <a:t>Distance matrix starts showing diagonal-like structure</a:t>
            </a:r>
            <a:endParaRPr sz="20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  <p:pic>
        <p:nvPicPr>
          <p:cNvPr id="219" name="Google Shape;219;p26" title="aligned-atten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3025" y="1526999"/>
            <a:ext cx="4202425" cy="280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 txBox="1"/>
          <p:nvPr>
            <p:ph type="title"/>
          </p:nvPr>
        </p:nvSpPr>
        <p:spPr>
          <a:xfrm>
            <a:off x="57800" y="171875"/>
            <a:ext cx="4469700" cy="14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Monotonic Alignment Search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57800" y="436350"/>
            <a:ext cx="44697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Duration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predictor</a:t>
            </a:r>
            <a:endParaRPr b="1"/>
          </a:p>
        </p:txBody>
      </p:sp>
      <p:sp>
        <p:nvSpPr>
          <p:cNvPr id="226" name="Google Shape;226;p27"/>
          <p:cNvSpPr txBox="1"/>
          <p:nvPr>
            <p:ph idx="1" type="subTitle"/>
          </p:nvPr>
        </p:nvSpPr>
        <p:spPr>
          <a:xfrm>
            <a:off x="113825" y="1813675"/>
            <a:ext cx="4413900" cy="3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2100"/>
              <a:buChar char="●"/>
            </a:pPr>
            <a:r>
              <a:rPr b="1" i="1" lang="zh-HK">
                <a:solidFill>
                  <a:srgbClr val="0F1115"/>
                </a:solidFill>
                <a:highlight>
                  <a:srgbClr val="FFFFFF"/>
                </a:highlight>
              </a:rPr>
              <a:t>Trained</a:t>
            </a:r>
            <a:r>
              <a:rPr lang="zh-HK">
                <a:solidFill>
                  <a:srgbClr val="0F1115"/>
                </a:solidFill>
                <a:highlight>
                  <a:srgbClr val="FFFFFF"/>
                </a:highlight>
              </a:rPr>
              <a:t> using results from MAS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100"/>
              <a:buChar char="●"/>
            </a:pPr>
            <a:r>
              <a:rPr lang="zh-HK">
                <a:solidFill>
                  <a:srgbClr val="0F1115"/>
                </a:solidFill>
                <a:highlight>
                  <a:srgbClr val="FFFFFF"/>
                </a:highlight>
              </a:rPr>
              <a:t>Used during </a:t>
            </a:r>
            <a:r>
              <a:rPr b="1" i="1" lang="zh-HK">
                <a:solidFill>
                  <a:srgbClr val="0F1115"/>
                </a:solidFill>
                <a:highlight>
                  <a:srgbClr val="FFFFFF"/>
                </a:highlight>
              </a:rPr>
              <a:t>inference</a:t>
            </a:r>
            <a:r>
              <a:rPr lang="zh-HK">
                <a:solidFill>
                  <a:srgbClr val="0F1115"/>
                </a:solidFill>
                <a:highlight>
                  <a:srgbClr val="FFFFFF"/>
                </a:highlight>
              </a:rPr>
              <a:t> to minic the ability of MAS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  <p:pic>
        <p:nvPicPr>
          <p:cNvPr id="227" name="Google Shape;227;p27" title="Duration Predictor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7600" y="800100"/>
            <a:ext cx="3152775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28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233" name="Google Shape;233;p28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28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28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28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28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28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9" name="Google Shape;239;p28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40" name="Google Shape;240;p28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28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28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243" name="Google Shape;243;p28"/>
          <p:cNvSpPr txBox="1"/>
          <p:nvPr>
            <p:ph type="title"/>
          </p:nvPr>
        </p:nvSpPr>
        <p:spPr>
          <a:xfrm>
            <a:off x="265500" y="359200"/>
            <a:ext cx="4045200" cy="86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Results</a:t>
            </a:r>
            <a:endParaRPr b="1"/>
          </a:p>
        </p:txBody>
      </p:sp>
      <p:grpSp>
        <p:nvGrpSpPr>
          <p:cNvPr id="244" name="Google Shape;244;p28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245" name="Google Shape;245;p28"/>
            <p:cNvSpPr/>
            <p:nvPr/>
          </p:nvSpPr>
          <p:spPr>
            <a:xfrm>
              <a:off x="1000000" y="2440003"/>
              <a:ext cx="4144235" cy="1631269"/>
            </a:xfrm>
            <a:custGeom>
              <a:rect b="b" l="l" r="r" t="t"/>
              <a:pathLst>
                <a:path extrusionOk="0" h="90088" w="165422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46" name="Google Shape;246;p28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8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8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8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8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8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8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8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" name="Google Shape;254;p28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255" name="Google Shape;255;p28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56" name="Google Shape;256;p28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8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8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8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8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4" name="Google Shape;264;p28" title="LJ033-0042.wa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3025" y="15341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 txBox="1"/>
          <p:nvPr/>
        </p:nvSpPr>
        <p:spPr>
          <a:xfrm>
            <a:off x="403975" y="1531900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Ground truth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403975" y="1991350"/>
            <a:ext cx="24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Synthesized speech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7" name="Google Shape;267;p28" title="output.wav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3025" y="19936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8" title="reconstruction_F0_pl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500" y="3000575"/>
            <a:ext cx="4163001" cy="20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>
            <p:ph type="title"/>
          </p:nvPr>
        </p:nvSpPr>
        <p:spPr>
          <a:xfrm>
            <a:off x="265500" y="276750"/>
            <a:ext cx="4045200" cy="136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Latent space manipulation</a:t>
            </a:r>
            <a:endParaRPr b="1"/>
          </a:p>
        </p:txBody>
      </p:sp>
      <p:sp>
        <p:nvSpPr>
          <p:cNvPr id="274" name="Google Shape;274;p29"/>
          <p:cNvSpPr txBox="1"/>
          <p:nvPr/>
        </p:nvSpPr>
        <p:spPr>
          <a:xfrm>
            <a:off x="391050" y="1958700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Speaking Slow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9"/>
          <p:cNvSpPr txBox="1"/>
          <p:nvPr/>
        </p:nvSpPr>
        <p:spPr>
          <a:xfrm>
            <a:off x="391050" y="2418150"/>
            <a:ext cx="24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Speaking Fast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6" name="Google Shape;276;p29" title="output_length_fast_05.wa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850" y="2420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9" title="output_length_slow_2.wav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850" y="19609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 txBox="1"/>
          <p:nvPr/>
        </p:nvSpPr>
        <p:spPr>
          <a:xfrm>
            <a:off x="391050" y="3480000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Pitch</a:t>
            </a: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High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391050" y="3939450"/>
            <a:ext cx="24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Pitch Low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0" name="Google Shape;280;p29" title="output_noise_scale_0_05.wav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850" y="3941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9" title="output_noise_scale_0_9.wav">
            <a:hlinkClick r:id="rId7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850" y="34800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Reference</a:t>
            </a:r>
            <a:endParaRPr b="1"/>
          </a:p>
        </p:txBody>
      </p:sp>
      <p:sp>
        <p:nvSpPr>
          <p:cNvPr id="287" name="Google Shape;287;p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i="1" lang="zh-HK">
                <a:solidFill>
                  <a:srgbClr val="FF9900"/>
                </a:solidFill>
              </a:rPr>
              <a:t>Glow-TTS: A Generative Flow for Text-to-Speech via Monotonic Alignment Search,</a:t>
            </a:r>
            <a:endParaRPr i="1">
              <a:solidFill>
                <a:srgbClr val="FF9900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zh-HK">
                <a:solidFill>
                  <a:srgbClr val="FF9900"/>
                </a:solidFill>
              </a:rPr>
              <a:t> </a:t>
            </a:r>
            <a:r>
              <a:rPr lang="zh-HK">
                <a:solidFill>
                  <a:srgbClr val="FF9900"/>
                </a:solidFill>
              </a:rPr>
              <a:t>Jaehyeon Kim, Sungwon Kim, Jungil Kong, Sungroh Yoon</a:t>
            </a:r>
            <a:endParaRPr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i="1" lang="zh-HK">
                <a:solidFill>
                  <a:srgbClr val="FF9900"/>
                </a:solidFill>
              </a:rPr>
              <a:t>Text-to-Speech Synthesis, </a:t>
            </a:r>
            <a:endParaRPr i="1">
              <a:solidFill>
                <a:srgbClr val="FF9900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zh-HK">
                <a:solidFill>
                  <a:srgbClr val="FF9900"/>
                </a:solidFill>
              </a:rPr>
              <a:t>Paul Taylor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