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14"/>
  </p:handoutMasterIdLst>
  <p:sldIdLst>
    <p:sldId id="256" r:id="rId3"/>
    <p:sldId id="257" r:id="rId4"/>
    <p:sldId id="258" r:id="rId5"/>
    <p:sldId id="259" r:id="rId6"/>
    <p:sldId id="264" r:id="rId7"/>
    <p:sldId id="265" r:id="rId8"/>
    <p:sldId id="266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B100"/>
    <a:srgbClr val="663300"/>
    <a:srgbClr val="666633"/>
    <a:srgbClr val="660066"/>
    <a:srgbClr val="006600"/>
    <a:srgbClr val="339966"/>
    <a:srgbClr val="003A00"/>
    <a:srgbClr val="0033CC"/>
    <a:srgbClr val="00CC33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2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8315C-91ED-43AD-9811-E4B30F3A6104}" type="datetimeFigureOut">
              <a:rPr lang="zh-HK" altLang="en-US" smtClean="0"/>
            </a:fld>
            <a:endParaRPr lang="zh-HK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58A13-320E-4B67-9C01-CB199D318094}" type="slidenum">
              <a:rPr lang="zh-HK" altLang="en-US" smtClean="0"/>
            </a:fld>
            <a:endParaRPr lang="zh-HK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HK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 smtClean="0"/>
              <a:t>編輯母片文字樣式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838200" y="21963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HK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72200" y="21963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HK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9788" y="2142484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 smtClean="0"/>
              <a:t>編輯母片文字樣式</a:t>
            </a:r>
            <a:endParaRPr lang="zh-TW" altLang="en-US" dirty="0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839788" y="2966396"/>
            <a:ext cx="5157787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HK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142484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 smtClean="0"/>
              <a:t>編輯母片文字樣式</a:t>
            </a:r>
            <a:endParaRPr lang="zh-TW" altLang="en-US" dirty="0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172200" y="2966396"/>
            <a:ext cx="5183188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HK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188" y="2274513"/>
            <a:ext cx="6172200" cy="4417261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 smtClean="0"/>
              <a:t>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HK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274513"/>
            <a:ext cx="3932237" cy="442519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 smtClean="0"/>
              <a:t>編輯母片文字樣式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51104" y="2315701"/>
            <a:ext cx="6172200" cy="433705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 dirty="0"/>
          </a:p>
        </p:txBody>
      </p:sp>
      <p:sp>
        <p:nvSpPr>
          <p:cNvPr id="5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315701"/>
            <a:ext cx="3932237" cy="442519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 smtClean="0"/>
              <a:t>編輯母片文字樣式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2319897"/>
            <a:ext cx="10515600" cy="43513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HK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 userDrawn="1"/>
        </p:nvSpPr>
        <p:spPr bwMode="auto">
          <a:xfrm>
            <a:off x="1522413" y="0"/>
            <a:ext cx="8229600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 smtClean="0">
                <a:solidFill>
                  <a:schemeClr val="bg1"/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按下新增標題</a:t>
            </a:r>
            <a:endParaRPr lang="zh-TW" altLang="en-US" sz="3200" dirty="0">
              <a:solidFill>
                <a:schemeClr val="bg1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2253993"/>
            <a:ext cx="10515600" cy="43513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HK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 userDrawn="1"/>
        </p:nvSpPr>
        <p:spPr bwMode="auto">
          <a:xfrm>
            <a:off x="1522413" y="0"/>
            <a:ext cx="8229600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 smtClean="0">
                <a:solidFill>
                  <a:schemeClr val="bg1"/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按下新增標題</a:t>
            </a:r>
            <a:endParaRPr lang="zh-TW" altLang="en-US" sz="3200" dirty="0">
              <a:solidFill>
                <a:schemeClr val="bg1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207276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 smtClean="0"/>
              <a:t>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HK" altLang="en-US" dirty="0"/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1715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華康儷粗黑(P)" panose="020B0700000000000000" pitchFamily="34" charset="-120"/>
          <a:ea typeface="華康儷粗黑(P)" panose="020B0700000000000000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華康儷細黑(P)" panose="020B0300000000000000" pitchFamily="34" charset="-120"/>
          <a:ea typeface="華康儷細黑(P)" panose="020B0300000000000000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華康儷細黑(P)" panose="020B0300000000000000" pitchFamily="34" charset="-120"/>
          <a:ea typeface="華康儷細黑(P)" panose="020B0300000000000000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華康儷細黑(P)" panose="020B0300000000000000" pitchFamily="34" charset="-120"/>
          <a:ea typeface="華康儷細黑(P)" panose="020B0300000000000000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華康儷細黑(P)" panose="020B0300000000000000" pitchFamily="34" charset="-120"/>
          <a:ea typeface="華康儷細黑(P)" panose="020B0300000000000000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14" y="726073"/>
            <a:ext cx="12058436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華康儷粗黑" panose="020B0709000000000000" pitchFamily="49" charset="-120"/>
                <a:ea typeface="華康儷粗黑" panose="020B0709000000000000" pitchFamily="49" charset="-120"/>
                <a:cs typeface="+mj-cs"/>
              </a:defRPr>
            </a:lvl1pPr>
          </a:lstStyle>
          <a:p>
            <a:pPr algn="ctr"/>
            <a:endParaRPr lang="zh-TW" altLang="en-US" sz="5000" dirty="0">
              <a:solidFill>
                <a:srgbClr val="C8B100"/>
              </a:solidFill>
              <a:latin typeface="華康超黑體" panose="020B0C09000000000000" pitchFamily="49" charset="-120"/>
              <a:ea typeface="華康超黑體" panose="020B0C09000000000000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300355" y="2177415"/>
            <a:ext cx="9459595" cy="4210685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explore subpopulations within sensitive indentified attributes 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perturb sentences and perform MT on NLP models to detect fairness violations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 (ε, k)-fairness and  mitigate unfair predictions. 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95250" y="1275080"/>
            <a:ext cx="6414135" cy="902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華康儷粗黑(P)" panose="020B0700000000000000" pitchFamily="34" charset="-120"/>
                <a:ea typeface="華康儷粗黑(P)" panose="020B0700000000000000" pitchFamily="34" charset="-120"/>
              </a:rPr>
              <a:t>Metamorphic Testing + Mitigation </a:t>
            </a:r>
            <a:endParaRPr lang="en-US" altLang="zh-CN" sz="2800" dirty="0"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-1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500" b="1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華康儷粗黑(P)" panose="020B0700000000000000" pitchFamily="34" charset="-120"/>
                <a:ea typeface="華康儷粗黑(P)" panose="020B0700000000000000" pitchFamily="34" charset="-120"/>
              </a:rPr>
              <a:t>Essay 1</a:t>
            </a:r>
            <a:endParaRPr lang="en-US" altLang="zh-CN" sz="3500" b="1" dirty="0"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300355" y="2177415"/>
            <a:ext cx="11731625" cy="4210685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Pertrub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457200" lvl="1" indent="457200"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noun.adj.                              verb.       others possibilities - long/short hair              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3657600" lvl="8" indent="457200"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          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maybe hard or inappropriate</a:t>
            </a:r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3657600" lvl="8" indent="457200">
              <a:buNone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3657600" lvl="8" indent="457200">
              <a:buNone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to learn &amp; use ConceptNet 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how to mutate 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3657600" lvl="8" indent="457200">
              <a:buNone/>
            </a:pPr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3657600" lvl="8" indent="457200">
              <a:buNone/>
            </a:pPr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3657600" lvl="8" indent="457200">
              <a:buNone/>
            </a:pPr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3657600" lvl="8" indent="457200">
              <a:buNone/>
            </a:pPr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95250" y="1275080"/>
            <a:ext cx="6414135" cy="902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華康儷粗黑(P)" panose="020B0700000000000000" pitchFamily="34" charset="-120"/>
                <a:ea typeface="華康儷粗黑(P)" panose="020B0700000000000000" pitchFamily="34" charset="-120"/>
              </a:rPr>
              <a:t>Metamorphic Testing + Mitigation </a:t>
            </a:r>
            <a:endParaRPr lang="en-US" altLang="zh-CN" sz="2800" dirty="0"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-1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500" b="1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華康儷粗黑(P)" panose="020B0700000000000000" pitchFamily="34" charset="-120"/>
                <a:ea typeface="華康儷粗黑(P)" panose="020B0700000000000000" pitchFamily="34" charset="-120"/>
              </a:rPr>
              <a:t>Essay 1</a:t>
            </a:r>
            <a:endParaRPr lang="en-US" altLang="zh-CN" sz="3500" b="1" dirty="0"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V="1">
            <a:off x="2616200" y="2652395"/>
            <a:ext cx="1937385" cy="20320"/>
          </a:xfrm>
          <a:prstGeom prst="straightConnector1">
            <a:avLst/>
          </a:prstGeom>
          <a:ln w="5080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300355" y="2177415"/>
            <a:ext cx="11731625" cy="4210685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  <a:sym typeface="+mn-ea"/>
              </a:rPr>
              <a:t>(ε, k)-fairness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  <a:sym typeface="+mn-ea"/>
            </a:endParaRPr>
          </a:p>
          <a:p>
            <a:pPr lvl="1"/>
            <a:endParaRPr lang="en-US" altLang="zh-CN" sz="1250" b="1" dirty="0"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  <a:sym typeface="+mn-ea"/>
            </a:endParaRPr>
          </a:p>
          <a:p>
            <a:pPr lvl="1"/>
            <a:r>
              <a:rPr lang="en-US" altLang="zh-CN" sz="1250" b="1" dirty="0"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  <a:sym typeface="+mn-ea"/>
              </a:rPr>
              <a:t>ε   </a:t>
            </a:r>
            <a:r>
              <a:rPr lang="en-US" altLang="zh-CN" sz="1250" dirty="0"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  <a:sym typeface="+mn-ea"/>
              </a:rPr>
              <a:t>fairness c</a:t>
            </a:r>
            <a:r>
              <a:rPr lang="en-US" altLang="zh-CN" sz="12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onstraints </a:t>
            </a:r>
            <a:endParaRPr lang="en-US" altLang="zh-CN" sz="12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lvl="1"/>
            <a:r>
              <a:rPr lang="en-US" altLang="zh-CN" sz="12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k   </a:t>
            </a:r>
            <a:r>
              <a:rPr lang="en-US" altLang="zh-CN" sz="12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mutation range/ higher k higher confidence</a:t>
            </a:r>
            <a:endParaRPr lang="en-US" altLang="zh-CN" sz="12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Neutral Layer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a weighted output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a certfied model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SA - Evaluation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95250" y="1275080"/>
            <a:ext cx="6414135" cy="902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華康儷粗黑(P)" panose="020B0700000000000000" pitchFamily="34" charset="-120"/>
                <a:ea typeface="華康儷粗黑(P)" panose="020B0700000000000000" pitchFamily="34" charset="-120"/>
              </a:rPr>
              <a:t>Metamorphic Testing + Mitigation </a:t>
            </a:r>
            <a:endParaRPr lang="en-US" altLang="zh-CN" sz="2800" dirty="0"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-1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500" b="1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華康儷粗黑(P)" panose="020B0700000000000000" pitchFamily="34" charset="-120"/>
                <a:ea typeface="華康儷粗黑(P)" panose="020B0700000000000000" pitchFamily="34" charset="-120"/>
              </a:rPr>
              <a:t>Essay 1</a:t>
            </a:r>
            <a:endParaRPr lang="en-US" altLang="zh-CN" sz="3500" b="1" dirty="0"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豆包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4380" y="1736725"/>
            <a:ext cx="3300095" cy="23926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9070" y="1736725"/>
            <a:ext cx="6173470" cy="4981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/>
              <a:t>合理数量的扰动</a:t>
            </a:r>
            <a:endParaRPr lang="zh-CN" altLang="en-US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b="1"/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superpod api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conceptnet-mini + dataset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句子类型</a:t>
            </a:r>
            <a:endParaRPr lang="en-US" altLang="zh-CN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 &lt; 4</a:t>
            </a: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457200">
              <a:buFont typeface="Wingdings" panose="05000000000000000000" charset="0"/>
              <a:buNone/>
            </a:pP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主动突变占主导</a:t>
            </a: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457200">
              <a:buFont typeface="Wingdings" panose="05000000000000000000" charset="0"/>
              <a:buNone/>
            </a:pP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457200">
              <a:buFont typeface="Wingdings" panose="05000000000000000000" charset="0"/>
              <a:buNone/>
            </a:pP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457200">
              <a:buFont typeface="Wingdings" panose="05000000000000000000" charset="0"/>
              <a:buNone/>
            </a:pP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457200">
              <a:buFont typeface="Wingdings" panose="05000000000000000000" charset="0"/>
              <a:buNone/>
            </a:pP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b="1">
                <a:sym typeface="+mn-ea"/>
              </a:rPr>
              <a:t>fairness</a:t>
            </a:r>
            <a:endParaRPr lang="en-US" altLang="zh-CN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 b="1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cnn 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感情</a:t>
            </a:r>
            <a:r>
              <a:rPr 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model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：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 </a:t>
            </a:r>
            <a:r>
              <a:rPr 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863/11563</a:t>
            </a:r>
            <a:endParaRPr lang="zh-CN" altLang="en-US" sz="16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0" y="2089150"/>
            <a:ext cx="2790825" cy="5334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9070" y="1308735"/>
            <a:ext cx="6173470" cy="4981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/>
              <a:t>缓解策略</a:t>
            </a:r>
            <a:endParaRPr lang="zh-CN" altLang="en-US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b="1"/>
          </a:p>
          <a:p>
            <a:pPr lvl="1" indent="0">
              <a:buFont typeface="Wingdings" panose="05000000000000000000" charset="0"/>
              <a:buNone/>
            </a:pPr>
            <a:r>
              <a:rPr 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CNN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绝对倾向</a:t>
            </a:r>
            <a:endParaRPr lang="zh-CN" altLang="en-US" b="1"/>
          </a:p>
          <a:p>
            <a:pPr lvl="1" indent="0">
              <a:buFont typeface="Wingdings" panose="05000000000000000000" charset="0"/>
              <a:buNone/>
            </a:pPr>
            <a:endParaRPr lang="zh-CN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当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S &lt; 4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即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k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较小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变号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效果差</a:t>
            </a: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457200">
              <a:buFont typeface="Wingdings" panose="05000000000000000000" charset="0"/>
              <a:buNone/>
            </a:pP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群体分数未互补，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sum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倾向一侧</a:t>
            </a: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457200">
              <a:buFont typeface="Wingdings" panose="05000000000000000000" charset="0"/>
              <a:buNone/>
            </a:pP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457200">
              <a:buFont typeface="Wingdings" panose="05000000000000000000" charset="0"/>
              <a:buNone/>
            </a:pP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457200">
              <a:buFont typeface="Wingdings" panose="05000000000000000000" charset="0"/>
              <a:buNone/>
            </a:pP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>
                <a:sym typeface="+mn-ea"/>
              </a:rPr>
              <a:t>数学思维</a:t>
            </a:r>
            <a:endParaRPr lang="zh-CN" altLang="en-US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b="1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1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单纯点到点</a:t>
            </a:r>
            <a:endParaRPr lang="zh-CN" altLang="en-US" sz="140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b="1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1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k -</a:t>
            </a:r>
            <a:r>
              <a:rPr lang="zh-CN" altLang="en-US" sz="1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扰动空间内，模型违规的</a:t>
            </a:r>
            <a:r>
              <a:rPr lang="en-US" altLang="zh-CN" sz="1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ε-</a:t>
            </a:r>
            <a:r>
              <a:rPr lang="zh-CN" altLang="en-US" sz="1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边界</a:t>
            </a:r>
            <a:endParaRPr lang="zh-CN" altLang="en-US" sz="14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en-US" altLang="zh-CN" b="1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zh-CN" altLang="en-US" sz="1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防御效果</a:t>
            </a:r>
            <a:r>
              <a:rPr lang="en-US" altLang="zh-CN" sz="1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/</a:t>
            </a:r>
            <a:r>
              <a:rPr lang="zh-CN" altLang="en-US" sz="1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鲁棒性</a:t>
            </a:r>
            <a:endParaRPr lang="zh-CN" altLang="en-US" sz="140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179070" y="1308735"/>
            <a:ext cx="6173470" cy="4981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/>
              <a:t>方向</a:t>
            </a:r>
            <a:endParaRPr lang="zh-CN" altLang="en-US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b="1"/>
          </a:p>
          <a:p>
            <a:pPr lvl="1" indent="0">
              <a:buFont typeface="Wingdings" panose="05000000000000000000" charset="0"/>
              <a:buNone/>
            </a:pPr>
            <a:r>
              <a:rPr lang="en-US" altLang="zh-CN" b="1"/>
              <a:t>1.</a:t>
            </a:r>
            <a:r>
              <a:rPr lang="zh-CN" altLang="en-US" b="1"/>
              <a:t>应用现实大模型</a:t>
            </a:r>
            <a:endParaRPr lang="zh-CN" altLang="en-US" b="1"/>
          </a:p>
          <a:p>
            <a:pPr lvl="1" indent="0">
              <a:buFont typeface="Wingdings" panose="05000000000000000000" charset="0"/>
              <a:buNone/>
            </a:pPr>
            <a:r>
              <a:rPr lang="en-US" altLang="zh-CN" b="1"/>
              <a:t>2.vqa</a:t>
            </a:r>
            <a:r>
              <a:rPr lang="zh-CN" altLang="en-US" b="1"/>
              <a:t>方法</a:t>
            </a:r>
            <a:endParaRPr lang="zh-CN" altLang="en-US" b="1"/>
          </a:p>
          <a:p>
            <a:pPr lvl="1" indent="0">
              <a:buFont typeface="Wingdings" panose="05000000000000000000" charset="0"/>
              <a:buNone/>
            </a:pPr>
            <a:r>
              <a:rPr lang="en-US" altLang="zh-CN" b="1"/>
              <a:t>3.</a:t>
            </a:r>
            <a:endParaRPr lang="zh-CN" altLang="en-US" b="1"/>
          </a:p>
          <a:p>
            <a:pPr lvl="1" indent="0">
              <a:buFont typeface="Wingdings" panose="05000000000000000000" charset="0"/>
              <a:buNone/>
            </a:pPr>
            <a:endParaRPr lang="zh-CN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140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300355" y="2177415"/>
            <a:ext cx="9459595" cy="4210685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Implicit ethics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95250" y="1275080"/>
            <a:ext cx="6414135" cy="902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華康儷粗黑(P)" panose="020B0700000000000000" pitchFamily="34" charset="-120"/>
                <a:ea typeface="華康儷粗黑(P)" panose="020B0700000000000000" pitchFamily="34" charset="-120"/>
              </a:rPr>
              <a:t>Reflective Equilibrium </a:t>
            </a:r>
            <a:endParaRPr lang="en-US" altLang="zh-CN" sz="2800" dirty="0"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-1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500" b="1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華康儷粗黑(P)" panose="020B0700000000000000" pitchFamily="34" charset="-120"/>
                <a:ea typeface="華康儷粗黑(P)" panose="020B0700000000000000" pitchFamily="34" charset="-120"/>
              </a:rPr>
              <a:t>Essay 2</a:t>
            </a:r>
            <a:endParaRPr lang="en-US" altLang="zh-CN" sz="3500" b="1" dirty="0"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55" y="2736215"/>
            <a:ext cx="7650480" cy="281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300355" y="2177415"/>
            <a:ext cx="11316970" cy="4210685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core idea   Reflective Equilibrium 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endParaRPr lang="en-US" altLang="zh-CN" sz="149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lvl="2"/>
            <a:r>
              <a:rPr lang="en-US" altLang="zh-CN" sz="192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intuition     </a:t>
            </a:r>
            <a:r>
              <a:rPr lang="en-US" altLang="zh-CN" sz="192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LLM</a:t>
            </a:r>
            <a:r>
              <a:rPr lang="en-US" altLang="zh-CN" sz="1920" b="1" dirty="0">
                <a:solidFill>
                  <a:srgbClr val="FF0000"/>
                </a:solidFill>
                <a:latin typeface="Calibri" panose="020F0502020204030204" charset="0"/>
                <a:ea typeface="微软雅黑" panose="020B0503020204020204" charset="-122"/>
                <a:cs typeface="Arial Black" panose="020B0A04020102020204" charset="0"/>
              </a:rPr>
              <a:t>①</a:t>
            </a:r>
            <a:endParaRPr lang="en-US" altLang="zh-CN" sz="192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lvl="2"/>
            <a:r>
              <a:rPr lang="en-US" altLang="zh-CN" sz="192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principles</a:t>
            </a:r>
            <a:endParaRPr lang="en-US" altLang="zh-CN" sz="192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lvl="2"/>
            <a:r>
              <a:rPr lang="en-US" altLang="zh-CN" sz="192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reflection   </a:t>
            </a:r>
            <a:r>
              <a:rPr lang="en-US" altLang="zh-CN" sz="192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LLM</a:t>
            </a:r>
            <a:r>
              <a:rPr lang="en-US" altLang="zh-CN" sz="1920" b="1" dirty="0">
                <a:solidFill>
                  <a:srgbClr val="FF0000"/>
                </a:solidFill>
                <a:latin typeface="Calibri" panose="020F0502020204030204" charset="0"/>
                <a:ea typeface="微软雅黑" panose="020B0503020204020204" charset="-122"/>
                <a:cs typeface="Arial Black" panose="020B0A04020102020204" charset="0"/>
              </a:rPr>
              <a:t>②</a:t>
            </a:r>
            <a:r>
              <a:rPr lang="en-US" altLang="zh-CN" sz="192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              LLM</a:t>
            </a:r>
            <a:r>
              <a:rPr lang="en-US" altLang="zh-CN" sz="1920" b="1" dirty="0">
                <a:solidFill>
                  <a:srgbClr val="FF0000"/>
                </a:solidFill>
                <a:latin typeface="Calibri" panose="020F0502020204030204" charset="0"/>
                <a:ea typeface="微软雅黑" panose="020B0503020204020204" charset="-122"/>
                <a:cs typeface="Arial Black" panose="020B0A04020102020204" charset="0"/>
              </a:rPr>
              <a:t>③</a:t>
            </a:r>
            <a:endParaRPr lang="en-US" altLang="zh-CN" sz="1920" b="1" dirty="0">
              <a:solidFill>
                <a:srgbClr val="FF0000"/>
              </a:solidFill>
              <a:latin typeface="Calibri" panose="020F0502020204030204" charset="0"/>
              <a:ea typeface="微软雅黑" panose="020B0503020204020204" charset="-122"/>
              <a:cs typeface="Arial Black" panose="020B0A04020102020204" charset="0"/>
            </a:endParaRPr>
          </a:p>
          <a:p>
            <a:pPr lvl="2"/>
            <a:endParaRPr lang="en-US" altLang="zh-CN" sz="1920" b="1" dirty="0">
              <a:solidFill>
                <a:srgbClr val="FF0000"/>
              </a:solidFill>
              <a:latin typeface="Calibri" panose="020F0502020204030204" charset="0"/>
              <a:ea typeface="微软雅黑" panose="020B0503020204020204" charset="-122"/>
              <a:cs typeface="Arial Black" panose="020B0A04020102020204" charset="0"/>
            </a:endParaRPr>
          </a:p>
          <a:p>
            <a:pPr lvl="2"/>
            <a:endParaRPr lang="en-US" altLang="zh-CN" sz="1920" b="1" dirty="0">
              <a:solidFill>
                <a:srgbClr val="FF0000"/>
              </a:solidFill>
              <a:latin typeface="Calibri" panose="020F0502020204030204" charset="0"/>
              <a:ea typeface="微软雅黑" panose="020B0503020204020204" charset="-122"/>
              <a:cs typeface="Arial Black" panose="020B0A04020102020204" charset="0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self-correction based on interactive feedback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a package of original output + feedback          possible ethical inconsistencies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95250" y="1275080"/>
            <a:ext cx="6414135" cy="902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華康儷粗黑(P)" panose="020B0700000000000000" pitchFamily="34" charset="-120"/>
                <a:ea typeface="華康儷粗黑(P)" panose="020B0700000000000000" pitchFamily="34" charset="-120"/>
              </a:rPr>
              <a:t>Reflective Equilibrium </a:t>
            </a:r>
            <a:endParaRPr lang="en-US" altLang="zh-CN" sz="2800" dirty="0"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-1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500" b="1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華康儷粗黑(P)" panose="020B0700000000000000" pitchFamily="34" charset="-120"/>
                <a:ea typeface="華康儷粗黑(P)" panose="020B0700000000000000" pitchFamily="34" charset="-120"/>
              </a:rPr>
              <a:t>Essay 2</a:t>
            </a:r>
            <a:endParaRPr lang="en-US" altLang="zh-CN" sz="3500" b="1" dirty="0"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3194685" y="3087370"/>
            <a:ext cx="0" cy="46926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3690620" y="3653790"/>
            <a:ext cx="867410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5795645" y="5556885"/>
            <a:ext cx="601345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300355" y="2177415"/>
            <a:ext cx="9459595" cy="4210685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to learn ETHICS benchmark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how to build EthicsSuite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95250" y="1275080"/>
            <a:ext cx="6414135" cy="902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華康儷粗黑(P)" panose="020B0700000000000000" pitchFamily="34" charset="-120"/>
                <a:ea typeface="華康儷粗黑(P)" panose="020B0700000000000000" pitchFamily="34" charset="-120"/>
              </a:rPr>
              <a:t>Reflective Equilibrium </a:t>
            </a:r>
            <a:endParaRPr lang="en-US" altLang="zh-CN" sz="2800" dirty="0"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-1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500" b="1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華康儷粗黑(P)" panose="020B0700000000000000" pitchFamily="34" charset="-120"/>
                <a:ea typeface="華康儷粗黑(P)" panose="020B0700000000000000" pitchFamily="34" charset="-120"/>
              </a:rPr>
              <a:t>Essay 2</a:t>
            </a:r>
            <a:endParaRPr lang="en-US" altLang="zh-CN" sz="3500" b="1" dirty="0"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300355" y="2177415"/>
            <a:ext cx="9459595" cy="421068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  <a:p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95250" y="1275080"/>
            <a:ext cx="6414135" cy="902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華康儷粗黑(P)" panose="020B0700000000000000" pitchFamily="34" charset="-120"/>
                <a:ea typeface="華康儷粗黑(P)" panose="020B0700000000000000" pitchFamily="34" charset="-120"/>
              </a:rPr>
              <a:t>Split and Merge</a:t>
            </a:r>
            <a:endParaRPr lang="en-US" altLang="zh-CN" sz="2800" dirty="0"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-1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500" b="1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華康儷粗黑(P)" panose="020B0700000000000000" pitchFamily="34" charset="-120"/>
                <a:ea typeface="華康儷粗黑(P)" panose="020B0700000000000000" pitchFamily="34" charset="-120"/>
              </a:rPr>
              <a:t>Essay 3</a:t>
            </a:r>
            <a:endParaRPr lang="en-US" altLang="zh-CN" sz="3500" b="1" dirty="0"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</Words>
  <Application>WPS 演示</Application>
  <PresentationFormat>寬螢幕</PresentationFormat>
  <Paragraphs>124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宋体</vt:lpstr>
      <vt:lpstr>Wingdings</vt:lpstr>
      <vt:lpstr>華康儷粗黑(P)</vt:lpstr>
      <vt:lpstr>黑体</vt:lpstr>
      <vt:lpstr>華康儷細黑(P)</vt:lpstr>
      <vt:lpstr>華康儷粗黑</vt:lpstr>
      <vt:lpstr>Microsoft JhengHei</vt:lpstr>
      <vt:lpstr>華康超黑體</vt:lpstr>
      <vt:lpstr>微软雅黑</vt:lpstr>
      <vt:lpstr>Arial Black</vt:lpstr>
      <vt:lpstr>Wingdings</vt:lpstr>
      <vt:lpstr>等线</vt:lpstr>
      <vt:lpstr>Calibri</vt:lpstr>
      <vt:lpstr>Arial Unicode MS</vt:lpstr>
      <vt:lpstr>Office 佈景主題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AU, Christine</dc:creator>
  <cp:lastModifiedBy>Mastain</cp:lastModifiedBy>
  <cp:revision>31</cp:revision>
  <dcterms:created xsi:type="dcterms:W3CDTF">2017-05-15T03:47:00Z</dcterms:created>
  <dcterms:modified xsi:type="dcterms:W3CDTF">2026-06-12T01:17:51Z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06A0FEBEF5024C6D82CF0FD99741C5CD_11</vt:lpwstr>
  </property>
  <property fmtid="{D5CDD505-2E9C-101B-9397-08002B2CF9AE}" pid="3" name="KSOProductBuildVer">
    <vt:lpwstr>2052-12.1.0.26375</vt:lpwstr>
  </property>
</Properties>
</file>