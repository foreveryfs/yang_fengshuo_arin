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Raleway"/>
      <p:regular r:id="rId34"/>
      <p:bold r:id="rId35"/>
      <p:italic r:id="rId36"/>
      <p:boldItalic r:id="rId37"/>
    </p:embeddedFont>
    <p:embeddedFont>
      <p:font typeface="Roboto"/>
      <p:regular r:id="rId38"/>
      <p:bold r:id="rId39"/>
      <p:italic r:id="rId40"/>
      <p:boldItalic r:id="rId41"/>
    </p:embeddedFont>
    <p:embeddedFont>
      <p:font typeface="Roboto Medium"/>
      <p:regular r:id="rId42"/>
      <p:bold r:id="rId43"/>
      <p:italic r:id="rId44"/>
      <p:boldItalic r:id="rId45"/>
    </p:embeddedFont>
    <p:embeddedFont>
      <p:font typeface="Lato Black"/>
      <p:bold r:id="rId46"/>
      <p:boldItalic r:id="rId47"/>
    </p:embeddedFont>
    <p:embeddedFont>
      <p:font typeface="Merriweather SemiBold"/>
      <p:regular r:id="rId48"/>
      <p:bold r:id="rId49"/>
      <p:italic r:id="rId50"/>
      <p:boldItalic r:id="rId51"/>
    </p:embeddedFont>
    <p:embeddedFont>
      <p:font typeface="Alfa Slab One"/>
      <p:regular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italic.fntdata"/><Relationship Id="rId42" Type="http://schemas.openxmlformats.org/officeDocument/2006/relationships/font" Target="fonts/RobotoMedium-regular.fntdata"/><Relationship Id="rId41" Type="http://schemas.openxmlformats.org/officeDocument/2006/relationships/font" Target="fonts/Roboto-boldItalic.fntdata"/><Relationship Id="rId44" Type="http://schemas.openxmlformats.org/officeDocument/2006/relationships/font" Target="fonts/RobotoMedium-italic.fntdata"/><Relationship Id="rId43" Type="http://schemas.openxmlformats.org/officeDocument/2006/relationships/font" Target="fonts/RobotoMedium-bold.fntdata"/><Relationship Id="rId46" Type="http://schemas.openxmlformats.org/officeDocument/2006/relationships/font" Target="fonts/LatoBlack-bold.fntdata"/><Relationship Id="rId45" Type="http://schemas.openxmlformats.org/officeDocument/2006/relationships/font" Target="fonts/Roboto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MerriweatherSemiBold-regular.fntdata"/><Relationship Id="rId47" Type="http://schemas.openxmlformats.org/officeDocument/2006/relationships/font" Target="fonts/LatoBlack-boldItalic.fntdata"/><Relationship Id="rId49" Type="http://schemas.openxmlformats.org/officeDocument/2006/relationships/font" Target="fonts/Merriweather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font" Target="fonts/Raleway-bold.fntdata"/><Relationship Id="rId34" Type="http://schemas.openxmlformats.org/officeDocument/2006/relationships/font" Target="fonts/Raleway-regular.fntdata"/><Relationship Id="rId37" Type="http://schemas.openxmlformats.org/officeDocument/2006/relationships/font" Target="fonts/Raleway-boldItalic.fntdata"/><Relationship Id="rId36" Type="http://schemas.openxmlformats.org/officeDocument/2006/relationships/font" Target="fonts/Raleway-italic.fntdata"/><Relationship Id="rId39" Type="http://schemas.openxmlformats.org/officeDocument/2006/relationships/font" Target="fonts/Roboto-bold.fntdata"/><Relationship Id="rId38" Type="http://schemas.openxmlformats.org/officeDocument/2006/relationships/font" Target="fonts/Roboto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MerriweatherSemiBold-boldItalic.fntdata"/><Relationship Id="rId50" Type="http://schemas.openxmlformats.org/officeDocument/2006/relationships/font" Target="fonts/MerriweatherSemiBold-italic.fntdata"/><Relationship Id="rId52" Type="http://schemas.openxmlformats.org/officeDocument/2006/relationships/font" Target="fonts/AlfaSlabOne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c3a73257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c3a73257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c2eed8d7f_1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c2eed8d7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c2eed8d7f_1_6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c2eed8d7f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c3a732579_0_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c3a73257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c2eed8d7f_1_4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c2eed8d7f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c3a732579_0_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c3a73257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c3a732579_4_4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c3a732579_4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c3a732579_1_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dc3a732579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c3a732579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dc3a732579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c3a732579_4_8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dc3a732579_4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dc3a732579_4_9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dc3a732579_4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c3a732579_4_9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dc3a732579_4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HK">
                <a:solidFill>
                  <a:schemeClr val="dk1"/>
                </a:solidFill>
              </a:rPr>
              <a:t>Instead of randomly sampling hard pixels, we first compute an uncertainty map from the prediction.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HK">
                <a:solidFill>
                  <a:schemeClr val="dk1"/>
                </a:solidFill>
              </a:rPr>
              <a:t>Then we sample pixels with higher uncertainty more frequently, since they are more informative.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HK">
                <a:solidFill>
                  <a:schemeClr val="dk1"/>
                </a:solidFill>
              </a:rPr>
              <a:t>This leads to better and more reliable prototypes, especially in difficult regions.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dc3a732579_4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dc3a732579_4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c3a732579_4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dc3a732579_4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c3a732579_4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dc3a732579_4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c3a732579_2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dc3a732579_2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dc3a732579_2_20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dc3a732579_2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c3a732579_2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dc3a732579_2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dc3a732579_2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dc3a732579_2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c3a732579_2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dc3a732579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dc3a732579_2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dc3a732579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c3a732579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dc3a732579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dc3a732579_2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dc3a732579_2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dc3a732579_2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dc3a732579_2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dc3a732579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dc3a732579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dc3a732579_4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dc3a732579_4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dc3a732579_4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dc3a732579_4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H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Relationship Id="rId5" Type="http://schemas.openxmlformats.org/officeDocument/2006/relationships/image" Target="../media/image17.png"/><Relationship Id="rId6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19.png"/><Relationship Id="rId6" Type="http://schemas.openxmlformats.org/officeDocument/2006/relationships/image" Target="../media/image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0" y="806875"/>
            <a:ext cx="9144000" cy="26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 sz="4500"/>
              <a:t>Improvement Study towards   </a:t>
            </a:r>
            <a:endParaRPr b="1" sz="4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 sz="4500"/>
              <a:t>Few-Shot Medical </a:t>
            </a:r>
            <a:endParaRPr b="1" sz="4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 sz="4500"/>
              <a:t>Image Segmentation</a:t>
            </a:r>
            <a:endParaRPr b="1" sz="4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193025" y="3280625"/>
            <a:ext cx="2891400" cy="14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zh-HK" sz="2000"/>
              <a:t>G</a:t>
            </a:r>
            <a:r>
              <a:rPr b="1" i="1" lang="zh-HK" sz="2000"/>
              <a:t>roup</a:t>
            </a:r>
            <a:endParaRPr b="1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zh-HK" sz="2000"/>
              <a:t>LUO,       Yichen</a:t>
            </a:r>
            <a:endParaRPr b="1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zh-HK" sz="2000"/>
              <a:t>WANG,  Yichao</a:t>
            </a:r>
            <a:endParaRPr b="1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zh-HK" sz="2000"/>
              <a:t>YANG,   Fengshuo</a:t>
            </a:r>
            <a:endParaRPr b="1" i="1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ctrTitle"/>
          </p:nvPr>
        </p:nvSpPr>
        <p:spPr>
          <a:xfrm>
            <a:off x="2107350" y="1516600"/>
            <a:ext cx="4929300" cy="147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5000"/>
              <a:t>⇨  R</a:t>
            </a:r>
            <a:r>
              <a:rPr lang="zh-HK" sz="5000"/>
              <a:t>elated Work</a:t>
            </a:r>
            <a:endParaRPr sz="5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219500" y="2037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/>
              <a:t>Background</a:t>
            </a:r>
            <a:endParaRPr/>
          </a:p>
        </p:txBody>
      </p:sp>
      <p:grpSp>
        <p:nvGrpSpPr>
          <p:cNvPr id="97" name="Google Shape;97;p15"/>
          <p:cNvGrpSpPr/>
          <p:nvPr/>
        </p:nvGrpSpPr>
        <p:grpSpPr>
          <a:xfrm>
            <a:off x="171420" y="900396"/>
            <a:ext cx="8862350" cy="3680595"/>
            <a:chOff x="431925" y="1304875"/>
            <a:chExt cx="2628919" cy="1734902"/>
          </a:xfrm>
        </p:grpSpPr>
        <p:sp>
          <p:nvSpPr>
            <p:cNvPr id="98" name="Google Shape;98;p15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HK" sz="21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Few-Shot Medical Image Segmentation (FSMIS)</a:t>
              </a:r>
              <a:endParaRPr sz="2100"/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431944" y="1768977"/>
              <a:ext cx="2628900" cy="12708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" name="Google Shape;100;p15"/>
          <p:cNvSpPr txBox="1"/>
          <p:nvPr>
            <p:ph idx="4294967295" type="body"/>
          </p:nvPr>
        </p:nvSpPr>
        <p:spPr>
          <a:xfrm>
            <a:off x="219500" y="2018775"/>
            <a:ext cx="8753100" cy="12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HK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FSMIS enables training segmentation models with limited annotated medical images, addressing the critical challenge of scarce expert annotations in clinical practice. 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HK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uses meta-learning to quickly adapt to new anatomical structures from just a few examples, making it valuable for rare diseases and resource-limited settings.</a:t>
            </a:r>
            <a:endParaRPr sz="2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219500" y="2037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/>
              <a:t>Background</a:t>
            </a:r>
            <a:endParaRPr/>
          </a:p>
        </p:txBody>
      </p:sp>
      <p:grpSp>
        <p:nvGrpSpPr>
          <p:cNvPr id="106" name="Google Shape;106;p16"/>
          <p:cNvGrpSpPr/>
          <p:nvPr/>
        </p:nvGrpSpPr>
        <p:grpSpPr>
          <a:xfrm>
            <a:off x="171420" y="900396"/>
            <a:ext cx="8862350" cy="3680595"/>
            <a:chOff x="431925" y="1304875"/>
            <a:chExt cx="2628919" cy="1734902"/>
          </a:xfrm>
        </p:grpSpPr>
        <p:sp>
          <p:nvSpPr>
            <p:cNvPr id="107" name="Google Shape;107;p16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HK" sz="2100">
                  <a:solidFill>
                    <a:schemeClr val="lt1"/>
                  </a:solidFill>
                </a:rPr>
                <a:t>Challenges in FSMIS</a:t>
              </a:r>
              <a:endParaRPr sz="2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" name="Google Shape;108;p16"/>
            <p:cNvSpPr/>
            <p:nvPr/>
          </p:nvSpPr>
          <p:spPr>
            <a:xfrm>
              <a:off x="431944" y="1768977"/>
              <a:ext cx="2628900" cy="12708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16"/>
          <p:cNvSpPr txBox="1"/>
          <p:nvPr>
            <p:ph idx="4294967295" type="body"/>
          </p:nvPr>
        </p:nvSpPr>
        <p:spPr>
          <a:xfrm>
            <a:off x="219500" y="2018775"/>
            <a:ext cx="8753100" cy="23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HK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FSMIS faces </a:t>
            </a:r>
            <a:r>
              <a:rPr b="1" lang="zh-HK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limitations:</a:t>
            </a:r>
            <a:r>
              <a:rPr lang="zh-HK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HK" sz="2000">
                <a:solidFill>
                  <a:srgbClr val="FF0000"/>
                </a:solidFill>
                <a:highlight>
                  <a:schemeClr val="lt1"/>
                </a:highlight>
                <a:latin typeface="Roboto Medium"/>
                <a:ea typeface="Roboto Medium"/>
                <a:cs typeface="Roboto Medium"/>
                <a:sym typeface="Roboto Medium"/>
              </a:rPr>
              <a:t>(1) severe foreground-background class imbalance causing biased predictions</a:t>
            </a:r>
            <a:endParaRPr sz="2000">
              <a:solidFill>
                <a:srgbClr val="FF0000"/>
              </a:solidFill>
              <a:highlight>
                <a:schemeClr val="lt1"/>
              </a:highlight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0000"/>
              </a:solidFill>
              <a:highlight>
                <a:schemeClr val="lt1"/>
              </a:highlight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HK" sz="2000">
                <a:solidFill>
                  <a:srgbClr val="FF0000"/>
                </a:solidFill>
                <a:highlight>
                  <a:schemeClr val="lt1"/>
                </a:highlight>
                <a:latin typeface="Roboto Medium"/>
                <a:ea typeface="Roboto Medium"/>
                <a:cs typeface="Roboto Medium"/>
                <a:sym typeface="Roboto Medium"/>
              </a:rPr>
              <a:t>(2) blurred organ boundaries with low contrast</a:t>
            </a:r>
            <a:endParaRPr sz="2000">
              <a:solidFill>
                <a:srgbClr val="FF0000"/>
              </a:solidFill>
              <a:highlight>
                <a:schemeClr val="lt1"/>
              </a:highlight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0000"/>
              </a:solidFill>
              <a:highlight>
                <a:schemeClr val="lt1"/>
              </a:highlight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219500" y="2037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/>
              <a:t>Background</a:t>
            </a:r>
            <a:endParaRPr/>
          </a:p>
        </p:txBody>
      </p:sp>
      <p:grpSp>
        <p:nvGrpSpPr>
          <p:cNvPr id="115" name="Google Shape;115;p17"/>
          <p:cNvGrpSpPr/>
          <p:nvPr/>
        </p:nvGrpSpPr>
        <p:grpSpPr>
          <a:xfrm>
            <a:off x="171420" y="900396"/>
            <a:ext cx="8862350" cy="3680595"/>
            <a:chOff x="431925" y="1304875"/>
            <a:chExt cx="2628919" cy="1734902"/>
          </a:xfrm>
        </p:grpSpPr>
        <p:sp>
          <p:nvSpPr>
            <p:cNvPr id="116" name="Google Shape;116;p17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HK" sz="2100">
                  <a:solidFill>
                    <a:schemeClr val="lt1"/>
                  </a:solidFill>
                </a:rPr>
                <a:t>Challenges in FSMIS</a:t>
              </a:r>
              <a:endParaRPr sz="2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431944" y="1768977"/>
              <a:ext cx="2628900" cy="12708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" name="Google Shape;118;p17"/>
          <p:cNvSpPr txBox="1"/>
          <p:nvPr>
            <p:ph idx="4294967295" type="body"/>
          </p:nvPr>
        </p:nvSpPr>
        <p:spPr>
          <a:xfrm>
            <a:off x="219500" y="2018775"/>
            <a:ext cx="8753100" cy="25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HK" sz="2000">
                <a:solidFill>
                  <a:srgbClr val="FF0000"/>
                </a:solidFill>
                <a:highlight>
                  <a:schemeClr val="lt1"/>
                </a:highlight>
                <a:latin typeface="Roboto Medium"/>
                <a:ea typeface="Roboto Medium"/>
                <a:cs typeface="Roboto Medium"/>
                <a:sym typeface="Roboto Medium"/>
              </a:rPr>
              <a:t>(3) inadequate feature learning from few samples</a:t>
            </a:r>
            <a:endParaRPr sz="2000">
              <a:solidFill>
                <a:srgbClr val="FF0000"/>
              </a:solidFill>
              <a:highlight>
                <a:schemeClr val="lt1"/>
              </a:highlight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0000"/>
              </a:solidFill>
              <a:highlight>
                <a:schemeClr val="lt1"/>
              </a:highlight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HK" sz="2000">
                <a:solidFill>
                  <a:srgbClr val="FF0000"/>
                </a:solidFill>
                <a:highlight>
                  <a:schemeClr val="lt1"/>
                </a:highlight>
                <a:latin typeface="Roboto Medium"/>
                <a:ea typeface="Roboto Medium"/>
                <a:cs typeface="Roboto Medium"/>
                <a:sym typeface="Roboto Medium"/>
              </a:rPr>
              <a:t>(4) prototype generation methods that overlook critical boundary information. </a:t>
            </a:r>
            <a:endParaRPr sz="2000">
              <a:solidFill>
                <a:srgbClr val="FF0000"/>
              </a:solidFill>
              <a:highlight>
                <a:schemeClr val="lt1"/>
              </a:highlight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0000"/>
              </a:solidFill>
              <a:highlight>
                <a:schemeClr val="lt1"/>
              </a:highlight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HK" sz="2000">
                <a:solidFill>
                  <a:srgbClr val="000000"/>
                </a:solidFill>
                <a:highlight>
                  <a:schemeClr val="lt1"/>
                </a:highlight>
                <a:latin typeface="Roboto Medium"/>
                <a:ea typeface="Roboto Medium"/>
                <a:cs typeface="Roboto Medium"/>
                <a:sym typeface="Roboto Medium"/>
              </a:rPr>
              <a:t>These issues result in poor boundary segmentation, weak small-structure detection, and limited generalization to new imaging conditions.</a:t>
            </a:r>
            <a:endParaRPr sz="2000">
              <a:solidFill>
                <a:srgbClr val="000000"/>
              </a:solidFill>
              <a:highlight>
                <a:schemeClr val="lt1"/>
              </a:highlight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265500" y="205875"/>
            <a:ext cx="4045200" cy="65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/>
              <a:t>Baseline</a:t>
            </a:r>
            <a:endParaRPr b="1"/>
          </a:p>
        </p:txBody>
      </p:sp>
      <p:pic>
        <p:nvPicPr>
          <p:cNvPr id="124" name="Google Shape;12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735425"/>
            <a:ext cx="4572002" cy="340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8"/>
          <p:cNvSpPr txBox="1"/>
          <p:nvPr/>
        </p:nvSpPr>
        <p:spPr>
          <a:xfrm>
            <a:off x="186800" y="858075"/>
            <a:ext cx="4221000" cy="39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zh-HK" sz="2000">
                <a:solidFill>
                  <a:srgbClr val="FF0000"/>
                </a:solidFill>
              </a:rPr>
              <a:t>CoW Framework Architecture</a:t>
            </a:r>
            <a:endParaRPr b="1" sz="2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HK" sz="1700"/>
              <a:t>CoW is a few-shot medical segmentation framework that targets boundary ambiguity by focusing on "weak" boundary features. 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700"/>
              <a:t>A dual-path architecture, one for segmenting foreground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700"/>
              <a:t>regions and the other for background.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700"/>
              <a:t>Its core includes three modules: 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/>
              <a:t>M</a:t>
            </a:r>
            <a:r>
              <a:rPr lang="zh-HK"/>
              <a:t>odule</a:t>
            </a:r>
            <a:endParaRPr/>
          </a:p>
        </p:txBody>
      </p:sp>
      <p:grpSp>
        <p:nvGrpSpPr>
          <p:cNvPr id="131" name="Google Shape;131;p19"/>
          <p:cNvGrpSpPr/>
          <p:nvPr/>
        </p:nvGrpSpPr>
        <p:grpSpPr>
          <a:xfrm>
            <a:off x="431925" y="1304875"/>
            <a:ext cx="2628925" cy="3416400"/>
            <a:chOff x="431925" y="1304875"/>
            <a:chExt cx="2628925" cy="3416400"/>
          </a:xfrm>
        </p:grpSpPr>
        <p:sp>
          <p:nvSpPr>
            <p:cNvPr id="132" name="Google Shape;132;p19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9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" name="Google Shape;134;p19"/>
          <p:cNvSpPr txBox="1"/>
          <p:nvPr>
            <p:ph idx="4294967295" type="body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>
                <a:solidFill>
                  <a:schemeClr val="lt1"/>
                </a:solidFill>
              </a:rPr>
              <a:t>SSP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5" name="Google Shape;135;p19"/>
          <p:cNvSpPr txBox="1"/>
          <p:nvPr>
            <p:ph idx="4294967295" type="body"/>
          </p:nvPr>
        </p:nvSpPr>
        <p:spPr>
          <a:xfrm>
            <a:off x="431800" y="1850300"/>
            <a:ext cx="26289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600">
                <a:solidFill>
                  <a:srgbClr val="000000"/>
                </a:solidFill>
              </a:rPr>
              <a:t>Support Self-prediction (SSP)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zh-HK"/>
              <a:t>identifies </a:t>
            </a:r>
            <a:r>
              <a:rPr b="1" lang="zh-HK">
                <a:solidFill>
                  <a:srgbClr val="FF0000"/>
                </a:solidFill>
              </a:rPr>
              <a:t>"weakness" regions</a:t>
            </a:r>
            <a:r>
              <a:rPr lang="zh-HK"/>
              <a:t> by performing self-prediction and comparing it with the ground truth. </a:t>
            </a:r>
            <a:endParaRPr/>
          </a:p>
        </p:txBody>
      </p:sp>
      <p:grpSp>
        <p:nvGrpSpPr>
          <p:cNvPr id="136" name="Google Shape;136;p19"/>
          <p:cNvGrpSpPr/>
          <p:nvPr/>
        </p:nvGrpSpPr>
        <p:grpSpPr>
          <a:xfrm>
            <a:off x="3320450" y="1304875"/>
            <a:ext cx="2632500" cy="3416400"/>
            <a:chOff x="3320450" y="1304875"/>
            <a:chExt cx="2632500" cy="3416400"/>
          </a:xfrm>
        </p:grpSpPr>
        <p:sp>
          <p:nvSpPr>
            <p:cNvPr id="137" name="Google Shape;137;p19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9"/>
          <p:cNvSpPr txBox="1"/>
          <p:nvPr>
            <p:ph idx="4294967295" type="body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>
                <a:solidFill>
                  <a:schemeClr val="lt1"/>
                </a:solidFill>
              </a:rPr>
              <a:t>HPG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0" name="Google Shape;140;p19"/>
          <p:cNvSpPr txBox="1"/>
          <p:nvPr>
            <p:ph idx="4294967295" type="body"/>
          </p:nvPr>
        </p:nvSpPr>
        <p:spPr>
          <a:xfrm>
            <a:off x="3320575" y="1850300"/>
            <a:ext cx="26325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600">
                <a:solidFill>
                  <a:srgbClr val="000000"/>
                </a:solidFill>
              </a:rPr>
              <a:t>Hard Prototype Generation (HPG) 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zh-HK"/>
              <a:t>extracts specialized features from identified weakness areas to generate discriminative </a:t>
            </a:r>
            <a:r>
              <a:rPr b="1" lang="zh-HK">
                <a:solidFill>
                  <a:srgbClr val="FF0000"/>
                </a:solidFill>
              </a:rPr>
              <a:t>"hard prototypes" </a:t>
            </a:r>
            <a:r>
              <a:rPr lang="zh-HK"/>
              <a:t>for feature enhancement.</a:t>
            </a:r>
            <a:endParaRPr/>
          </a:p>
        </p:txBody>
      </p:sp>
      <p:grpSp>
        <p:nvGrpSpPr>
          <p:cNvPr id="141" name="Google Shape;141;p19"/>
          <p:cNvGrpSpPr/>
          <p:nvPr/>
        </p:nvGrpSpPr>
        <p:grpSpPr>
          <a:xfrm>
            <a:off x="6212550" y="1304875"/>
            <a:ext cx="2632500" cy="3416400"/>
            <a:chOff x="6212550" y="1304875"/>
            <a:chExt cx="2632500" cy="3416400"/>
          </a:xfrm>
        </p:grpSpPr>
        <p:sp>
          <p:nvSpPr>
            <p:cNvPr id="142" name="Google Shape;142;p19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9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" name="Google Shape;144;p19"/>
          <p:cNvSpPr txBox="1"/>
          <p:nvPr>
            <p:ph idx="4294967295" type="body"/>
          </p:nvPr>
        </p:nvSpPr>
        <p:spPr>
          <a:xfrm>
            <a:off x="627247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>
                <a:solidFill>
                  <a:schemeClr val="lt1"/>
                </a:solidFill>
              </a:rPr>
              <a:t>MSMF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5" name="Google Shape;145;p19"/>
          <p:cNvSpPr txBox="1"/>
          <p:nvPr>
            <p:ph idx="4294967295" type="body"/>
          </p:nvPr>
        </p:nvSpPr>
        <p:spPr>
          <a:xfrm>
            <a:off x="6212550" y="1766275"/>
            <a:ext cx="2632500" cy="28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600">
                <a:solidFill>
                  <a:srgbClr val="000000"/>
                </a:solidFill>
              </a:rPr>
              <a:t>Multiple Similarity Maps Fusion (MSMF)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zh-HK">
                <a:solidFill>
                  <a:srgbClr val="FF0000"/>
                </a:solidFill>
              </a:rPr>
              <a:t>fuses similarity maps</a:t>
            </a:r>
            <a:r>
              <a:rPr lang="zh-HK"/>
              <a:t> from both base and hard prototypes to rectify biases and produce the final segmentation.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时间轴图形中的背景指针形状" id="150" name="Google Shape;150;p20"/>
          <p:cNvSpPr/>
          <p:nvPr/>
        </p:nvSpPr>
        <p:spPr>
          <a:xfrm>
            <a:off x="1153475" y="2199000"/>
            <a:ext cx="1872300" cy="7455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0"/>
          <p:cNvSpPr txBox="1"/>
          <p:nvPr>
            <p:ph idx="4294967295" type="body"/>
          </p:nvPr>
        </p:nvSpPr>
        <p:spPr>
          <a:xfrm>
            <a:off x="1153466" y="2336550"/>
            <a:ext cx="16512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600">
                <a:solidFill>
                  <a:schemeClr val="lt1"/>
                </a:solidFill>
              </a:rPr>
              <a:t>DS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600">
                <a:solidFill>
                  <a:schemeClr val="lt1"/>
                </a:solidFill>
              </a:rPr>
              <a:t>Pre-processing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152" name="Google Shape;152;p20"/>
          <p:cNvGrpSpPr/>
          <p:nvPr/>
        </p:nvGrpSpPr>
        <p:grpSpPr>
          <a:xfrm>
            <a:off x="1781810" y="1610215"/>
            <a:ext cx="198900" cy="593656"/>
            <a:chOff x="777447" y="1610215"/>
            <a:chExt cx="198900" cy="593656"/>
          </a:xfrm>
        </p:grpSpPr>
        <p:cxnSp>
          <p:nvCxnSpPr>
            <p:cNvPr id="153" name="Google Shape;153;p20"/>
            <p:cNvCxnSpPr/>
            <p:nvPr/>
          </p:nvCxnSpPr>
          <p:spPr>
            <a:xfrm>
              <a:off x="876909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4" name="Google Shape;154;p20"/>
            <p:cNvSpPr/>
            <p:nvPr/>
          </p:nvSpPr>
          <p:spPr>
            <a:xfrm>
              <a:off x="777447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" name="Google Shape;155;p20"/>
          <p:cNvSpPr txBox="1"/>
          <p:nvPr>
            <p:ph idx="4294967295" type="body"/>
          </p:nvPr>
        </p:nvSpPr>
        <p:spPr>
          <a:xfrm>
            <a:off x="759850" y="626042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●"/>
            </a:pPr>
            <a:r>
              <a:rPr b="1" lang="zh-HK" sz="1400">
                <a:solidFill>
                  <a:srgbClr val="FF0000"/>
                </a:solidFill>
              </a:rPr>
              <a:t>Abd MRI</a:t>
            </a:r>
            <a:endParaRPr b="1" sz="1400">
              <a:solidFill>
                <a:srgbClr val="FF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●"/>
            </a:pPr>
            <a:r>
              <a:rPr b="1" lang="zh-HK" sz="1400">
                <a:solidFill>
                  <a:srgbClr val="FF0000"/>
                </a:solidFill>
              </a:rPr>
              <a:t>Abd CT</a:t>
            </a:r>
            <a:endParaRPr b="1" sz="1400">
              <a:solidFill>
                <a:srgbClr val="FF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●"/>
            </a:pPr>
            <a:r>
              <a:rPr b="1" lang="zh-HK" sz="1400">
                <a:solidFill>
                  <a:srgbClr val="FF0000"/>
                </a:solidFill>
              </a:rPr>
              <a:t>CMR MRI</a:t>
            </a:r>
            <a:endParaRPr b="1" sz="1400">
              <a:solidFill>
                <a:srgbClr val="FF0000"/>
              </a:solidFill>
            </a:endParaRPr>
          </a:p>
        </p:txBody>
      </p:sp>
      <p:sp>
        <p:nvSpPr>
          <p:cNvPr descr="时间轴图形中的背景指针形状" id="156" name="Google Shape;156;p20"/>
          <p:cNvSpPr/>
          <p:nvPr/>
        </p:nvSpPr>
        <p:spPr>
          <a:xfrm>
            <a:off x="2629594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0"/>
          <p:cNvSpPr txBox="1"/>
          <p:nvPr>
            <p:ph idx="4294967295" type="body"/>
          </p:nvPr>
        </p:nvSpPr>
        <p:spPr>
          <a:xfrm>
            <a:off x="2578141" y="2079338"/>
            <a:ext cx="2154000" cy="90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600">
                <a:solidFill>
                  <a:schemeClr val="lt1"/>
                </a:solidFill>
              </a:rPr>
              <a:t>Supervoxels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600">
                <a:solidFill>
                  <a:schemeClr val="lt1"/>
                </a:solidFill>
              </a:rPr>
              <a:t>Segmentation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158" name="Google Shape;158;p20"/>
          <p:cNvGrpSpPr/>
          <p:nvPr/>
        </p:nvGrpSpPr>
        <p:grpSpPr>
          <a:xfrm>
            <a:off x="3497173" y="2938958"/>
            <a:ext cx="198900" cy="593656"/>
            <a:chOff x="2223534" y="2938958"/>
            <a:chExt cx="198900" cy="593656"/>
          </a:xfrm>
        </p:grpSpPr>
        <p:cxnSp>
          <p:nvCxnSpPr>
            <p:cNvPr id="159" name="Google Shape;159;p20"/>
            <p:cNvCxnSpPr/>
            <p:nvPr/>
          </p:nvCxnSpPr>
          <p:spPr>
            <a:xfrm rot="10800000">
              <a:off x="2322997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0" name="Google Shape;160;p20"/>
            <p:cNvSpPr/>
            <p:nvPr/>
          </p:nvSpPr>
          <p:spPr>
            <a:xfrm flipH="1" rot="10800000">
              <a:off x="2223534" y="3333714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descr="时间轴图形中的背景指针形状" id="161" name="Google Shape;161;p20"/>
          <p:cNvSpPr/>
          <p:nvPr/>
        </p:nvSpPr>
        <p:spPr>
          <a:xfrm>
            <a:off x="4284514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0"/>
          <p:cNvSpPr txBox="1"/>
          <p:nvPr>
            <p:ph idx="4294967295" type="body"/>
          </p:nvPr>
        </p:nvSpPr>
        <p:spPr>
          <a:xfrm>
            <a:off x="4580290" y="2336550"/>
            <a:ext cx="14487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600">
                <a:solidFill>
                  <a:schemeClr val="lt1"/>
                </a:solidFill>
              </a:rPr>
              <a:t>Training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600">
                <a:solidFill>
                  <a:schemeClr val="lt1"/>
                </a:solidFill>
              </a:rPr>
              <a:t>Network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163" name="Google Shape;163;p20"/>
          <p:cNvGrpSpPr/>
          <p:nvPr/>
        </p:nvGrpSpPr>
        <p:grpSpPr>
          <a:xfrm>
            <a:off x="5132085" y="1610215"/>
            <a:ext cx="198900" cy="593656"/>
            <a:chOff x="3918084" y="1610215"/>
            <a:chExt cx="198900" cy="593656"/>
          </a:xfrm>
        </p:grpSpPr>
        <p:cxnSp>
          <p:nvCxnSpPr>
            <p:cNvPr id="164" name="Google Shape;164;p20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5" name="Google Shape;165;p20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" name="Google Shape;166;p20"/>
          <p:cNvSpPr txBox="1"/>
          <p:nvPr>
            <p:ph idx="4294967295" type="body"/>
          </p:nvPr>
        </p:nvSpPr>
        <p:spPr>
          <a:xfrm>
            <a:off x="2578150" y="598750"/>
            <a:ext cx="3166800" cy="9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 sz="1400">
                <a:solidFill>
                  <a:srgbClr val="FF0000"/>
                </a:solidFill>
              </a:rPr>
              <a:t>Improvement Methods Applied</a:t>
            </a:r>
            <a:endParaRPr b="1" sz="1400">
              <a:solidFill>
                <a:srgbClr val="FF0000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zh-HK" sz="1400">
                <a:solidFill>
                  <a:srgbClr val="FF0000"/>
                </a:solidFill>
              </a:rPr>
              <a:t>     Loss Function :</a:t>
            </a:r>
            <a:endParaRPr b="1" sz="14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400">
              <a:solidFill>
                <a:srgbClr val="FF0000"/>
              </a:solidFill>
            </a:endParaRPr>
          </a:p>
        </p:txBody>
      </p:sp>
      <p:sp>
        <p:nvSpPr>
          <p:cNvPr descr="时间轴图形中的背景指针形状" id="167" name="Google Shape;167;p20"/>
          <p:cNvSpPr/>
          <p:nvPr/>
        </p:nvSpPr>
        <p:spPr>
          <a:xfrm>
            <a:off x="5939434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0"/>
          <p:cNvSpPr txBox="1"/>
          <p:nvPr>
            <p:ph idx="4294967295" type="body"/>
          </p:nvPr>
        </p:nvSpPr>
        <p:spPr>
          <a:xfrm>
            <a:off x="6229241" y="2336550"/>
            <a:ext cx="14487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600">
                <a:solidFill>
                  <a:schemeClr val="lt1"/>
                </a:solidFill>
              </a:rPr>
              <a:t>Predictor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169" name="Google Shape;169;p20"/>
          <p:cNvGrpSpPr/>
          <p:nvPr/>
        </p:nvGrpSpPr>
        <p:grpSpPr>
          <a:xfrm>
            <a:off x="6785610" y="2938958"/>
            <a:ext cx="198900" cy="593656"/>
            <a:chOff x="5958946" y="2938958"/>
            <a:chExt cx="198900" cy="593656"/>
          </a:xfrm>
        </p:grpSpPr>
        <p:cxnSp>
          <p:nvCxnSpPr>
            <p:cNvPr id="170" name="Google Shape;170;p20"/>
            <p:cNvCxnSpPr/>
            <p:nvPr/>
          </p:nvCxnSpPr>
          <p:spPr>
            <a:xfrm rot="10800000">
              <a:off x="6058409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1" name="Google Shape;171;p20"/>
            <p:cNvSpPr/>
            <p:nvPr/>
          </p:nvSpPr>
          <p:spPr>
            <a:xfrm flipH="1" rot="10800000">
              <a:off x="5958946" y="3333714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2" name="Google Shape;172;p20"/>
          <p:cNvSpPr txBox="1"/>
          <p:nvPr>
            <p:ph idx="4294967295" type="body"/>
          </p:nvPr>
        </p:nvSpPr>
        <p:spPr>
          <a:xfrm>
            <a:off x="5554050" y="3422150"/>
            <a:ext cx="3459600" cy="16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 sz="1400">
                <a:solidFill>
                  <a:srgbClr val="000000"/>
                </a:solidFill>
              </a:rPr>
              <a:t>Evaluation Metrics:</a:t>
            </a:r>
            <a:endParaRPr b="1"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zh-HK" sz="1500">
                <a:solidFill>
                  <a:srgbClr val="FF0000"/>
                </a:solidFill>
              </a:rPr>
              <a:t>the mean Sorensen-Dice coefficient (DSC) </a:t>
            </a:r>
            <a:r>
              <a:rPr b="1" lang="zh-HK" sz="1500">
                <a:solidFill>
                  <a:srgbClr val="000000"/>
                </a:solidFill>
              </a:rPr>
              <a:t>to compare the prediction to the ground truth. 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400">
              <a:solidFill>
                <a:srgbClr val="FF0000"/>
              </a:solidFill>
            </a:endParaRPr>
          </a:p>
        </p:txBody>
      </p:sp>
      <p:pic>
        <p:nvPicPr>
          <p:cNvPr id="173" name="Google Shape;17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838" y="3611151"/>
            <a:ext cx="4360527" cy="150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5269600" y="718575"/>
            <a:ext cx="4200300" cy="11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the segmentation loss</a:t>
            </a:r>
            <a:endParaRPr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the prototype alignment regularization loss</a:t>
            </a:r>
            <a:endParaRPr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the intra-class loss</a:t>
            </a:r>
            <a:endParaRPr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the interclass loss</a:t>
            </a:r>
            <a:endParaRPr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the boundary loss</a:t>
            </a:r>
            <a:endParaRPr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5" name="Google Shape;175;p20"/>
          <p:cNvSpPr txBox="1"/>
          <p:nvPr>
            <p:ph idx="4294967295" type="subTitle"/>
          </p:nvPr>
        </p:nvSpPr>
        <p:spPr>
          <a:xfrm>
            <a:off x="188625" y="-44150"/>
            <a:ext cx="64191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Pipeline</a:t>
            </a:r>
            <a:endParaRPr b="1"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/>
              <a:t>Limitation</a:t>
            </a:r>
            <a:endParaRPr/>
          </a:p>
        </p:txBody>
      </p:sp>
      <p:grpSp>
        <p:nvGrpSpPr>
          <p:cNvPr id="181" name="Google Shape;181;p21"/>
          <p:cNvGrpSpPr/>
          <p:nvPr/>
        </p:nvGrpSpPr>
        <p:grpSpPr>
          <a:xfrm>
            <a:off x="431925" y="1304875"/>
            <a:ext cx="2628925" cy="3416400"/>
            <a:chOff x="431925" y="1304875"/>
            <a:chExt cx="2628925" cy="3416400"/>
          </a:xfrm>
        </p:grpSpPr>
        <p:sp>
          <p:nvSpPr>
            <p:cNvPr id="182" name="Google Shape;182;p21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1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4" name="Google Shape;184;p21"/>
          <p:cNvSpPr txBox="1"/>
          <p:nvPr>
            <p:ph idx="4294967295" type="body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>
                <a:solidFill>
                  <a:schemeClr val="lt1"/>
                </a:solidFill>
              </a:rPr>
              <a:t>SSP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5" name="Google Shape;185;p21"/>
          <p:cNvSpPr txBox="1"/>
          <p:nvPr>
            <p:ph idx="4294967295" type="body"/>
          </p:nvPr>
        </p:nvSpPr>
        <p:spPr>
          <a:xfrm>
            <a:off x="431950" y="1652650"/>
            <a:ext cx="26289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HK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1.Prototypes are learned </a:t>
            </a:r>
            <a:r>
              <a:rPr b="1" lang="zh-HK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exclusively from support images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HK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2.No mechanism to incorporate </a:t>
            </a:r>
            <a:r>
              <a:rPr b="1" lang="zh-HK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query-specific information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</p:txBody>
      </p:sp>
      <p:grpSp>
        <p:nvGrpSpPr>
          <p:cNvPr id="186" name="Google Shape;186;p21"/>
          <p:cNvGrpSpPr/>
          <p:nvPr/>
        </p:nvGrpSpPr>
        <p:grpSpPr>
          <a:xfrm>
            <a:off x="3320450" y="1304875"/>
            <a:ext cx="2632500" cy="3416400"/>
            <a:chOff x="3320450" y="1304875"/>
            <a:chExt cx="2632500" cy="3416400"/>
          </a:xfrm>
        </p:grpSpPr>
        <p:sp>
          <p:nvSpPr>
            <p:cNvPr id="187" name="Google Shape;187;p21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1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9" name="Google Shape;189;p21"/>
          <p:cNvSpPr txBox="1"/>
          <p:nvPr>
            <p:ph idx="4294967295" type="body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>
                <a:solidFill>
                  <a:schemeClr val="lt1"/>
                </a:solidFill>
              </a:rPr>
              <a:t>HPG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0" name="Google Shape;190;p21"/>
          <p:cNvSpPr txBox="1"/>
          <p:nvPr>
            <p:ph idx="4294967295" type="body"/>
          </p:nvPr>
        </p:nvSpPr>
        <p:spPr>
          <a:xfrm>
            <a:off x="3320450" y="1766275"/>
            <a:ext cx="26325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zh-HK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 pixels are sampled </a:t>
            </a:r>
            <a:r>
              <a:rPr b="1" lang="zh-HK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randomly from error regions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zh-HK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Treats all hard pixels </a:t>
            </a:r>
            <a:r>
              <a:rPr b="1" lang="zh-HK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equally</a:t>
            </a:r>
            <a:r>
              <a:rPr lang="zh-HK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regardless of difficulty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zh-HK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Ignores uncertainty distribution within hard regions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</p:txBody>
      </p:sp>
      <p:grpSp>
        <p:nvGrpSpPr>
          <p:cNvPr id="191" name="Google Shape;191;p21"/>
          <p:cNvGrpSpPr/>
          <p:nvPr/>
        </p:nvGrpSpPr>
        <p:grpSpPr>
          <a:xfrm>
            <a:off x="6212550" y="1304875"/>
            <a:ext cx="2632500" cy="3416400"/>
            <a:chOff x="6212550" y="1304875"/>
            <a:chExt cx="2632500" cy="3416400"/>
          </a:xfrm>
        </p:grpSpPr>
        <p:sp>
          <p:nvSpPr>
            <p:cNvPr id="192" name="Google Shape;192;p21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1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4" name="Google Shape;194;p21"/>
          <p:cNvSpPr txBox="1"/>
          <p:nvPr>
            <p:ph idx="4294967295" type="body"/>
          </p:nvPr>
        </p:nvSpPr>
        <p:spPr>
          <a:xfrm>
            <a:off x="627247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>
                <a:solidFill>
                  <a:schemeClr val="lt1"/>
                </a:solidFill>
              </a:rPr>
              <a:t>MSMF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5" name="Google Shape;195;p21"/>
          <p:cNvSpPr txBox="1"/>
          <p:nvPr>
            <p:ph idx="4294967295" type="body"/>
          </p:nvPr>
        </p:nvSpPr>
        <p:spPr>
          <a:xfrm>
            <a:off x="6212550" y="1766275"/>
            <a:ext cx="2632500" cy="28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zh-HK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Fusion is performed via a </a:t>
            </a:r>
            <a:r>
              <a:rPr b="1" lang="zh-HK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decoder-based black-box module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zh-HK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Lacks </a:t>
            </a:r>
            <a:r>
              <a:rPr b="1" lang="zh-HK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explicit modeling of prototype importance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 txBox="1"/>
          <p:nvPr>
            <p:ph type="ctrTitle"/>
          </p:nvPr>
        </p:nvSpPr>
        <p:spPr>
          <a:xfrm>
            <a:off x="169650" y="1945650"/>
            <a:ext cx="8804700" cy="125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4700"/>
              <a:t>⇨ Improve Ideas </a:t>
            </a:r>
            <a:endParaRPr sz="5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3"/>
          <p:cNvSpPr txBox="1"/>
          <p:nvPr>
            <p:ph type="title"/>
          </p:nvPr>
        </p:nvSpPr>
        <p:spPr>
          <a:xfrm>
            <a:off x="265500" y="205875"/>
            <a:ext cx="4045200" cy="65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/>
              <a:t>Innovation</a:t>
            </a:r>
            <a:endParaRPr b="1"/>
          </a:p>
        </p:txBody>
      </p:sp>
      <p:sp>
        <p:nvSpPr>
          <p:cNvPr id="206" name="Google Shape;206;p23"/>
          <p:cNvSpPr txBox="1"/>
          <p:nvPr/>
        </p:nvSpPr>
        <p:spPr>
          <a:xfrm>
            <a:off x="0" y="1052000"/>
            <a:ext cx="4856700" cy="39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AutoNum type="arabicPeriod"/>
            </a:pPr>
            <a:r>
              <a:rPr b="1" lang="zh-HK" sz="1300"/>
              <a:t>Query-aware Hard Prototype Refinement </a:t>
            </a:r>
            <a:endParaRPr b="1" sz="13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HK" sz="1300"/>
              <a:t>(QHPR)</a:t>
            </a:r>
            <a:endParaRPr b="1" sz="13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AutoNum type="arabicPeriod"/>
            </a:pPr>
            <a:r>
              <a:rPr b="1" lang="zh-HK" sz="1300"/>
              <a:t>Adaptive Prototype Attention Fusion</a:t>
            </a:r>
            <a:endParaRPr b="1" sz="13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HK" sz="1300"/>
              <a:t> (APAF)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AutoNum type="arabicPeriod"/>
            </a:pPr>
            <a:r>
              <a:rPr b="1" lang="zh-HK" sz="1300"/>
              <a:t>Uncertainty-weighted Hard Prototype Mining</a:t>
            </a:r>
            <a:endParaRPr b="1" sz="13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HK" sz="1300"/>
              <a:t> (UHPM)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AutoNum type="arabicPeriod"/>
            </a:pPr>
            <a:r>
              <a:rPr b="1" lang="zh-HK" sz="1300"/>
              <a:t>Distance-aware Boundary Constraint (DBC)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</p:txBody>
      </p:sp>
      <p:pic>
        <p:nvPicPr>
          <p:cNvPr id="207" name="Google Shape;20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0175" y="2726575"/>
            <a:ext cx="3950075" cy="2354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0175" y="91650"/>
            <a:ext cx="3914124" cy="24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>
            <p:ph type="title"/>
          </p:nvPr>
        </p:nvSpPr>
        <p:spPr>
          <a:xfrm>
            <a:off x="265500" y="205875"/>
            <a:ext cx="4045200" cy="65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/>
              <a:t>Innovation</a:t>
            </a:r>
            <a:endParaRPr b="1"/>
          </a:p>
        </p:txBody>
      </p:sp>
      <p:sp>
        <p:nvSpPr>
          <p:cNvPr id="214" name="Google Shape;214;p24"/>
          <p:cNvSpPr txBox="1"/>
          <p:nvPr/>
        </p:nvSpPr>
        <p:spPr>
          <a:xfrm>
            <a:off x="130350" y="1095900"/>
            <a:ext cx="4315500" cy="39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zh-HK" sz="1600"/>
              <a:t>Query-aware Hard Prototype Refinement</a:t>
            </a:r>
            <a:endParaRPr b="1"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HK" sz="1100"/>
              <a:t>Refines prototypes using uncertain regions from the query image. Instead of relying solely on support, it introduces a closed-loop process to adapt prototypes to query-specific variations.</a:t>
            </a:r>
            <a:br>
              <a:rPr lang="zh-HK" sz="1100"/>
            </a:br>
            <a:r>
              <a:rPr lang="zh-HK" sz="1100"/>
              <a:t>This improves robustness in ambiguous and hard-to-segment regions.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zh-HK" sz="1600"/>
              <a:t>Adaptive Prototype Attention Fusion</a:t>
            </a:r>
            <a:endParaRPr b="1"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HK" sz="1100"/>
              <a:t>Replaces decoder-based fusion with an attention mechanism. Each pixel dynamically assigns weights to different prototypes based on its feature similarity.</a:t>
            </a:r>
            <a:br>
              <a:rPr lang="zh-HK" sz="1100"/>
            </a:br>
            <a:r>
              <a:rPr lang="zh-HK" sz="1100"/>
              <a:t>This enables interpretable and spatially adaptive fusion.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</p:txBody>
      </p:sp>
      <p:pic>
        <p:nvPicPr>
          <p:cNvPr id="215" name="Google Shape;21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650" y="1247400"/>
            <a:ext cx="4270674" cy="258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"/>
          <p:cNvSpPr txBox="1"/>
          <p:nvPr>
            <p:ph type="title"/>
          </p:nvPr>
        </p:nvSpPr>
        <p:spPr>
          <a:xfrm>
            <a:off x="265500" y="205875"/>
            <a:ext cx="4045200" cy="65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/>
              <a:t>Innovation</a:t>
            </a:r>
            <a:endParaRPr b="1"/>
          </a:p>
        </p:txBody>
      </p:sp>
      <p:sp>
        <p:nvSpPr>
          <p:cNvPr id="221" name="Google Shape;221;p25"/>
          <p:cNvSpPr txBox="1"/>
          <p:nvPr/>
        </p:nvSpPr>
        <p:spPr>
          <a:xfrm>
            <a:off x="130350" y="997425"/>
            <a:ext cx="4315500" cy="39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zh-HK" sz="1500"/>
              <a:t>Uncertainty-weighted Hard Prototype Mining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HK" sz="1100"/>
              <a:t>Selects hard pixels based on uncertainty rather than random sampling.</a:t>
            </a:r>
            <a:br>
              <a:rPr lang="zh-HK" sz="1100"/>
            </a:br>
            <a:r>
              <a:rPr lang="zh-HK" sz="1100"/>
              <a:t> More informative and ambiguous regions are prioritized during prototype construction.</a:t>
            </a:r>
            <a:br>
              <a:rPr lang="zh-HK" sz="1100"/>
            </a:br>
            <a:r>
              <a:rPr lang="zh-HK" sz="1100"/>
              <a:t> This leads to more discriminative and reliable prototypes.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zh-HK" sz="1500"/>
              <a:t>Distance-aware Boundary Constraint</a:t>
            </a:r>
            <a:endParaRPr b="1"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HK" sz="1100"/>
              <a:t>Introduces signed distance maps to provide geometry-aware supervision.</a:t>
            </a:r>
            <a:br>
              <a:rPr lang="zh-HK" sz="1100"/>
            </a:br>
            <a:r>
              <a:rPr lang="zh-HK" sz="1100"/>
              <a:t> It captures both boundary location and distance information.</a:t>
            </a:r>
            <a:br>
              <a:rPr lang="zh-HK" sz="1100"/>
            </a:br>
            <a:r>
              <a:rPr lang="zh-HK" sz="1100"/>
              <a:t> This improves structural consistency and boundary accuracy.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</p:txBody>
      </p:sp>
      <p:pic>
        <p:nvPicPr>
          <p:cNvPr id="222" name="Google Shape;22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650" y="1247400"/>
            <a:ext cx="4270674" cy="258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"/>
          <p:cNvSpPr txBox="1"/>
          <p:nvPr>
            <p:ph type="ctrTitle"/>
          </p:nvPr>
        </p:nvSpPr>
        <p:spPr>
          <a:xfrm>
            <a:off x="169650" y="1945650"/>
            <a:ext cx="8804700" cy="125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5000"/>
              <a:t>⇨  </a:t>
            </a:r>
            <a:r>
              <a:rPr lang="zh-HK" sz="4700"/>
              <a:t>Experiment</a:t>
            </a:r>
            <a:endParaRPr sz="5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7"/>
          <p:cNvSpPr txBox="1"/>
          <p:nvPr>
            <p:ph type="title"/>
          </p:nvPr>
        </p:nvSpPr>
        <p:spPr>
          <a:xfrm>
            <a:off x="290050" y="210825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/>
              <a:t>Implementation Details </a:t>
            </a:r>
            <a:endParaRPr b="1"/>
          </a:p>
        </p:txBody>
      </p:sp>
      <p:sp>
        <p:nvSpPr>
          <p:cNvPr id="233" name="Google Shape;233;p27"/>
          <p:cNvSpPr txBox="1"/>
          <p:nvPr>
            <p:ph idx="1" type="subTitle"/>
          </p:nvPr>
        </p:nvSpPr>
        <p:spPr>
          <a:xfrm>
            <a:off x="0" y="1928800"/>
            <a:ext cx="4572000" cy="29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 sz="1700">
                <a:solidFill>
                  <a:srgbClr val="000000"/>
                </a:solidFill>
              </a:rPr>
              <a:t>Hardware: 1 × NVIDIA H800 GPU</a:t>
            </a:r>
            <a:endParaRPr b="1" sz="17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 sz="1700">
                <a:solidFill>
                  <a:srgbClr val="000000"/>
                </a:solidFill>
              </a:rPr>
              <a:t>Framework: PyTorch</a:t>
            </a:r>
            <a:endParaRPr b="1" sz="17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 sz="1700">
                <a:solidFill>
                  <a:srgbClr val="000000"/>
                </a:solidFill>
              </a:rPr>
              <a:t>Training iterations: 40,000</a:t>
            </a:r>
            <a:endParaRPr b="1" sz="17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 sz="1700">
                <a:solidFill>
                  <a:srgbClr val="000000"/>
                </a:solidFill>
              </a:rPr>
              <a:t>Epoch size: 5,000 iterations</a:t>
            </a:r>
            <a:endParaRPr b="1" sz="17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 sz="1700">
                <a:solidFill>
                  <a:srgbClr val="000000"/>
                </a:solidFill>
              </a:rPr>
              <a:t>Learning rate schedule: exponential decay (0.98)</a:t>
            </a:r>
            <a:endParaRPr b="1" sz="17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 sz="1700">
                <a:solidFill>
                  <a:srgbClr val="000000"/>
                </a:solidFill>
              </a:rPr>
              <a:t>Checkpoint interval: 5,000 iterations</a:t>
            </a:r>
            <a:endParaRPr b="1" sz="17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 sz="1700">
                <a:solidFill>
                  <a:srgbClr val="000000"/>
                </a:solidFill>
              </a:rPr>
              <a:t>Data loading workers: 16</a:t>
            </a:r>
            <a:endParaRPr b="1" sz="17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 sz="1700">
                <a:solidFill>
                  <a:srgbClr val="000000"/>
                </a:solidFill>
              </a:rPr>
              <a:t>Random seed: 2025</a:t>
            </a:r>
            <a:endParaRPr b="1" sz="17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8"/>
          <p:cNvSpPr txBox="1"/>
          <p:nvPr>
            <p:ph type="title"/>
          </p:nvPr>
        </p:nvSpPr>
        <p:spPr>
          <a:xfrm>
            <a:off x="290050" y="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/>
              <a:t>Dataset Preparation</a:t>
            </a:r>
            <a:endParaRPr b="1"/>
          </a:p>
        </p:txBody>
      </p:sp>
      <p:sp>
        <p:nvSpPr>
          <p:cNvPr id="239" name="Google Shape;239;p28"/>
          <p:cNvSpPr txBox="1"/>
          <p:nvPr>
            <p:ph idx="1" type="subTitle"/>
          </p:nvPr>
        </p:nvSpPr>
        <p:spPr>
          <a:xfrm>
            <a:off x="290050" y="1658923"/>
            <a:ext cx="4045200" cy="29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b="1" lang="zh-HK" sz="2000">
                <a:solidFill>
                  <a:srgbClr val="000000"/>
                </a:solidFill>
              </a:rPr>
              <a:t>Abd-MRI: </a:t>
            </a:r>
            <a:r>
              <a:rPr b="1" lang="zh-HK" sz="2000">
                <a:solidFill>
                  <a:srgbClr val="000000"/>
                </a:solidFill>
              </a:rPr>
              <a:t>named CHAOST2</a:t>
            </a:r>
            <a:endParaRPr b="1" sz="20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2000">
                <a:solidFill>
                  <a:srgbClr val="000000"/>
                </a:solidFill>
              </a:rPr>
              <a:t>Combined Healthy Abdominal Organ Segmentation data set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2000">
                <a:solidFill>
                  <a:srgbClr val="000000"/>
                </a:solidFill>
              </a:rPr>
              <a:t>	</a:t>
            </a:r>
            <a:r>
              <a:rPr i="1" lang="zh-HK" sz="2000">
                <a:solidFill>
                  <a:srgbClr val="980000"/>
                </a:solidFill>
              </a:rPr>
              <a:t>(same as baseline)</a:t>
            </a:r>
            <a:endParaRPr i="1" sz="20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2000">
                <a:solidFill>
                  <a:srgbClr val="000000"/>
                </a:solidFill>
              </a:rPr>
              <a:t>1——image</a:t>
            </a:r>
            <a:endParaRPr sz="20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2000">
                <a:solidFill>
                  <a:srgbClr val="000000"/>
                </a:solidFill>
              </a:rPr>
              <a:t>2——label</a:t>
            </a:r>
            <a:endParaRPr sz="20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2000">
                <a:solidFill>
                  <a:srgbClr val="000000"/>
                </a:solidFill>
              </a:rPr>
              <a:t>3——mask</a:t>
            </a:r>
            <a:endParaRPr sz="20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2000">
                <a:solidFill>
                  <a:srgbClr val="000000"/>
                </a:solidFill>
              </a:rPr>
              <a:t>4——superpixel</a:t>
            </a:r>
            <a:endParaRPr sz="2000">
              <a:solidFill>
                <a:srgbClr val="000000"/>
              </a:solidFill>
            </a:endParaRPr>
          </a:p>
        </p:txBody>
      </p:sp>
      <p:pic>
        <p:nvPicPr>
          <p:cNvPr id="240" name="Google Shape;24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2" y="618875"/>
            <a:ext cx="1800000" cy="18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51635" y="618875"/>
            <a:ext cx="1800000" cy="18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12" y="2942163"/>
            <a:ext cx="1800000" cy="180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51632" y="2942175"/>
            <a:ext cx="1800000" cy="18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9"/>
          <p:cNvSpPr txBox="1"/>
          <p:nvPr>
            <p:ph type="ctrTitle"/>
          </p:nvPr>
        </p:nvSpPr>
        <p:spPr>
          <a:xfrm>
            <a:off x="169650" y="1945650"/>
            <a:ext cx="8804700" cy="125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4700"/>
              <a:t>Quantitative Metrics</a:t>
            </a:r>
            <a:endParaRPr sz="5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0" title="微信图片_20260505160619_947_2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422725"/>
            <a:ext cx="8839201" cy="218426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0"/>
          <p:cNvSpPr txBox="1"/>
          <p:nvPr/>
        </p:nvSpPr>
        <p:spPr>
          <a:xfrm>
            <a:off x="506675" y="595925"/>
            <a:ext cx="7488000" cy="1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b="1" lang="zh-HK" sz="20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mean Sorensen-Dice coefficient (DSC) </a:t>
            </a:r>
            <a:endParaRPr b="1" sz="20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 compare the prediction to the ground truth.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1"/>
          <p:cNvSpPr txBox="1"/>
          <p:nvPr>
            <p:ph type="title"/>
          </p:nvPr>
        </p:nvSpPr>
        <p:spPr>
          <a:xfrm>
            <a:off x="664875" y="11237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 sz="2100">
                <a:solidFill>
                  <a:srgbClr val="0F1115"/>
                </a:solidFill>
              </a:rPr>
              <a:t>T</a:t>
            </a:r>
            <a:r>
              <a:rPr b="1" lang="zh-HK" sz="2100">
                <a:solidFill>
                  <a:srgbClr val="0F1115"/>
                </a:solidFill>
              </a:rPr>
              <a:t>able 2. Segmentation Performance by Organ on CHAOST2</a:t>
            </a:r>
            <a:endParaRPr b="1" sz="2100">
              <a:solidFill>
                <a:srgbClr val="0F1115"/>
              </a:solidFill>
            </a:endParaRPr>
          </a:p>
        </p:txBody>
      </p:sp>
      <p:pic>
        <p:nvPicPr>
          <p:cNvPr id="260" name="Google Shape;260;p31" title="微信图片_20260505160631_948_2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700" y="1808665"/>
            <a:ext cx="6934405" cy="2502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32" title="微信图片_20260505160637_949_2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50" y="1514825"/>
            <a:ext cx="9144000" cy="2113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3"/>
          <p:cNvSpPr txBox="1"/>
          <p:nvPr>
            <p:ph type="ctrTitle"/>
          </p:nvPr>
        </p:nvSpPr>
        <p:spPr>
          <a:xfrm>
            <a:off x="169650" y="1945650"/>
            <a:ext cx="8804700" cy="125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4700"/>
              <a:t>Results Visualization </a:t>
            </a:r>
            <a:endParaRPr sz="5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4"/>
          <p:cNvSpPr txBox="1"/>
          <p:nvPr>
            <p:ph idx="1" type="subTitle"/>
          </p:nvPr>
        </p:nvSpPr>
        <p:spPr>
          <a:xfrm>
            <a:off x="106100" y="419775"/>
            <a:ext cx="4309800" cy="14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 sz="3600">
                <a:solidFill>
                  <a:schemeClr val="dk1"/>
                </a:solidFill>
              </a:rPr>
              <a:t>Abdominal cross section (axial view)</a:t>
            </a:r>
            <a:endParaRPr b="1" sz="3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276" name="Google Shape;276;p34" title="image_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8" y="1519198"/>
            <a:ext cx="2244999" cy="224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4" title="image_3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61150" y="1519200"/>
            <a:ext cx="2244999" cy="224499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4"/>
          <p:cNvSpPr txBox="1"/>
          <p:nvPr/>
        </p:nvSpPr>
        <p:spPr>
          <a:xfrm>
            <a:off x="175300" y="2133525"/>
            <a:ext cx="4036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800"/>
              <a:t>The left image shows the baseline segmentation effect, and the right image shows the improved segmentation effect.</a:t>
            </a: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idx="1" type="subTitle"/>
          </p:nvPr>
        </p:nvSpPr>
        <p:spPr>
          <a:xfrm>
            <a:off x="317250" y="1253450"/>
            <a:ext cx="43098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Left kidney</a:t>
            </a:r>
            <a:endParaRPr b="1"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</p:txBody>
      </p:sp>
      <p:pic>
        <p:nvPicPr>
          <p:cNvPr id="284" name="Google Shape;284;p35" title="prediction_31_LK_basel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88" y="385175"/>
            <a:ext cx="1992851" cy="1992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5" title="prediction_31_L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46912" y="385175"/>
            <a:ext cx="1992851" cy="1992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5" title="prediction_36_LK_baselin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2970175"/>
            <a:ext cx="1992851" cy="1992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5" title="prediction_36_LK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46925" y="2970175"/>
            <a:ext cx="1992851" cy="1992851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5"/>
          <p:cNvSpPr txBox="1"/>
          <p:nvPr/>
        </p:nvSpPr>
        <p:spPr>
          <a:xfrm>
            <a:off x="264375" y="2164550"/>
            <a:ext cx="4138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800"/>
              <a:t>The left image shows the baseline segmentation effect, and the right image shows the improved segmentation effect.</a:t>
            </a:r>
            <a:endParaRPr sz="1800"/>
          </a:p>
        </p:txBody>
      </p:sp>
      <p:sp>
        <p:nvSpPr>
          <p:cNvPr id="289" name="Google Shape;289;p35"/>
          <p:cNvSpPr txBox="1"/>
          <p:nvPr/>
        </p:nvSpPr>
        <p:spPr>
          <a:xfrm>
            <a:off x="4672575" y="2443250"/>
            <a:ext cx="456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</a:t>
            </a:r>
            <a:r>
              <a:rPr lang="zh-HK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Baseline                                   Ours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6"/>
          <p:cNvSpPr txBox="1"/>
          <p:nvPr>
            <p:ph idx="1" type="subTitle"/>
          </p:nvPr>
        </p:nvSpPr>
        <p:spPr>
          <a:xfrm>
            <a:off x="279100" y="892625"/>
            <a:ext cx="43098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</a:t>
            </a:r>
            <a:r>
              <a:rPr b="1" lang="zh-HK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kidney</a:t>
            </a:r>
            <a:endParaRPr b="1"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295" name="Google Shape;295;p36"/>
          <p:cNvSpPr txBox="1"/>
          <p:nvPr/>
        </p:nvSpPr>
        <p:spPr>
          <a:xfrm>
            <a:off x="279100" y="2253475"/>
            <a:ext cx="4138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800"/>
              <a:t>The left image shows the baseline segmentation effect, and the right image shows the improved segmentation effect.</a:t>
            </a:r>
            <a:endParaRPr sz="1800"/>
          </a:p>
        </p:txBody>
      </p:sp>
      <p:pic>
        <p:nvPicPr>
          <p:cNvPr id="296" name="Google Shape;296;p36" title="prediction_31_RK_basel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8899" y="363550"/>
            <a:ext cx="1969250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6" title="prediction_31_R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74750" y="363526"/>
            <a:ext cx="1969250" cy="1969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6" title="prediction_36_RK_baselin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88900" y="2877825"/>
            <a:ext cx="1969250" cy="196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6" title="prediction_36_RK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74750" y="2877817"/>
            <a:ext cx="1969250" cy="1969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6"/>
          <p:cNvSpPr txBox="1"/>
          <p:nvPr/>
        </p:nvSpPr>
        <p:spPr>
          <a:xfrm>
            <a:off x="4643150" y="2374463"/>
            <a:ext cx="456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</a:t>
            </a:r>
            <a:r>
              <a:rPr lang="zh-HK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Baseline                                   Ours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 txBox="1"/>
          <p:nvPr>
            <p:ph idx="1" type="subTitle"/>
          </p:nvPr>
        </p:nvSpPr>
        <p:spPr>
          <a:xfrm>
            <a:off x="279100" y="892625"/>
            <a:ext cx="43098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Spleen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306" name="Google Shape;306;p37"/>
          <p:cNvSpPr txBox="1"/>
          <p:nvPr/>
        </p:nvSpPr>
        <p:spPr>
          <a:xfrm>
            <a:off x="279100" y="2253475"/>
            <a:ext cx="4138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800"/>
              <a:t>The left image shows the baseline segmentation effect, and the right image shows the improved segmentation effect.</a:t>
            </a:r>
            <a:endParaRPr sz="1800"/>
          </a:p>
        </p:txBody>
      </p:sp>
      <p:pic>
        <p:nvPicPr>
          <p:cNvPr id="307" name="Google Shape;307;p37" title="prediction_36_SPLEEN_basel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8900" y="475800"/>
            <a:ext cx="1906200" cy="190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7" title="prediction_36_SPLEE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7800" y="475825"/>
            <a:ext cx="1906200" cy="1906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7" title="prediction_31_SPLEEN_baselin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3003212"/>
            <a:ext cx="1906200" cy="1906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7" title="prediction_31_SPLEE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37800" y="3003200"/>
            <a:ext cx="1906200" cy="1906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7"/>
          <p:cNvSpPr txBox="1"/>
          <p:nvPr/>
        </p:nvSpPr>
        <p:spPr>
          <a:xfrm>
            <a:off x="4672575" y="2443250"/>
            <a:ext cx="456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</a:t>
            </a:r>
            <a:r>
              <a:rPr lang="zh-HK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Baseline                                   Ours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8"/>
          <p:cNvSpPr txBox="1"/>
          <p:nvPr>
            <p:ph type="ctrTitle"/>
          </p:nvPr>
        </p:nvSpPr>
        <p:spPr>
          <a:xfrm>
            <a:off x="169650" y="1945650"/>
            <a:ext cx="8804700" cy="125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4700"/>
              <a:t>Future Works</a:t>
            </a:r>
            <a:endParaRPr sz="5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9"/>
          <p:cNvSpPr txBox="1"/>
          <p:nvPr>
            <p:ph idx="1" type="subTitle"/>
          </p:nvPr>
        </p:nvSpPr>
        <p:spPr>
          <a:xfrm>
            <a:off x="106100" y="419775"/>
            <a:ext cx="4309800" cy="18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 sz="3600">
                <a:solidFill>
                  <a:schemeClr val="dk1"/>
                </a:solidFill>
              </a:rPr>
              <a:t>Improvements</a:t>
            </a:r>
            <a:endParaRPr b="1" sz="3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 sz="3600">
                <a:solidFill>
                  <a:schemeClr val="dk1"/>
                </a:solidFill>
              </a:rPr>
              <a:t>For</a:t>
            </a:r>
            <a:endParaRPr b="1" sz="3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 sz="3600">
                <a:solidFill>
                  <a:schemeClr val="dk1"/>
                </a:solidFill>
              </a:rPr>
              <a:t>CT-Scan</a:t>
            </a:r>
            <a:endParaRPr b="1" sz="3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322" name="Google Shape;322;p39"/>
          <p:cNvSpPr txBox="1"/>
          <p:nvPr/>
        </p:nvSpPr>
        <p:spPr>
          <a:xfrm>
            <a:off x="106100" y="2340900"/>
            <a:ext cx="40365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800"/>
              <a:t>CT-Scan image characteristics：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Merriweather SemiBold"/>
              <a:buChar char="●"/>
            </a:pPr>
            <a:r>
              <a:rPr lang="zh-HK" sz="1800">
                <a:solidFill>
                  <a:srgbClr val="FF0000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The edges are more blurred.</a:t>
            </a:r>
            <a:endParaRPr sz="1800">
              <a:solidFill>
                <a:srgbClr val="FF0000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Merriweather SemiBold"/>
              <a:buChar char="●"/>
            </a:pPr>
            <a:r>
              <a:rPr lang="zh-HK" sz="1800">
                <a:solidFill>
                  <a:srgbClr val="FF0000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3D data, Greater continuity of anatomical structure</a:t>
            </a:r>
            <a:endParaRPr sz="1800">
              <a:solidFill>
                <a:srgbClr val="FF0000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Merriweather SemiBold"/>
              <a:buChar char="●"/>
            </a:pPr>
            <a:r>
              <a:rPr lang="zh-HK" sz="1800">
                <a:solidFill>
                  <a:srgbClr val="FF0000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Information between slices is highly correlated</a:t>
            </a:r>
            <a:endParaRPr sz="1800">
              <a:solidFill>
                <a:srgbClr val="FF0000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323" name="Google Shape;32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926250"/>
            <a:ext cx="3901550" cy="310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0"/>
          <p:cNvSpPr txBox="1"/>
          <p:nvPr>
            <p:ph idx="1" type="subTitle"/>
          </p:nvPr>
        </p:nvSpPr>
        <p:spPr>
          <a:xfrm>
            <a:off x="106100" y="0"/>
            <a:ext cx="4309800" cy="18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 sz="3600">
                <a:solidFill>
                  <a:schemeClr val="dk1"/>
                </a:solidFill>
              </a:rPr>
              <a:t>Improvements</a:t>
            </a:r>
            <a:endParaRPr b="1" sz="3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 sz="3600">
                <a:solidFill>
                  <a:schemeClr val="dk1"/>
                </a:solidFill>
              </a:rPr>
              <a:t>For</a:t>
            </a:r>
            <a:endParaRPr b="1" sz="3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 sz="3600">
                <a:solidFill>
                  <a:schemeClr val="dk1"/>
                </a:solidFill>
              </a:rPr>
              <a:t>CT-Scan</a:t>
            </a:r>
            <a:endParaRPr b="1" sz="3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329" name="Google Shape;329;p40"/>
          <p:cNvSpPr txBox="1"/>
          <p:nvPr/>
        </p:nvSpPr>
        <p:spPr>
          <a:xfrm>
            <a:off x="179750" y="1751675"/>
            <a:ext cx="43098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800"/>
              <a:t>Ideas</a:t>
            </a:r>
            <a:r>
              <a:rPr lang="zh-HK" sz="1800"/>
              <a:t>：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Merriweather SemiBold"/>
              <a:buChar char="●"/>
            </a:pPr>
            <a:r>
              <a:rPr lang="zh-HK" sz="1800">
                <a:solidFill>
                  <a:srgbClr val="FF0000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Increase supervoxel granularity and slice continuity</a:t>
            </a:r>
            <a:endParaRPr sz="1800">
              <a:solidFill>
                <a:srgbClr val="FF0000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Merriweather SemiBold"/>
              <a:buChar char="●"/>
            </a:pPr>
            <a:r>
              <a:rPr lang="zh-HK" sz="1800">
                <a:solidFill>
                  <a:srgbClr val="FF0000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Cross-Slice Contextual Attention</a:t>
            </a:r>
            <a:endParaRPr sz="1800">
              <a:solidFill>
                <a:srgbClr val="FF0000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0" name="Google Shape;330;p40"/>
          <p:cNvSpPr txBox="1"/>
          <p:nvPr/>
        </p:nvSpPr>
        <p:spPr>
          <a:xfrm>
            <a:off x="4572000" y="3284300"/>
            <a:ext cx="2796600" cy="7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6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Prototype based on a single supporting image</a:t>
            </a:r>
            <a:endParaRPr sz="160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31" name="Google Shape;331;p40"/>
          <p:cNvSpPr txBox="1"/>
          <p:nvPr/>
        </p:nvSpPr>
        <p:spPr>
          <a:xfrm>
            <a:off x="7319650" y="3505250"/>
            <a:ext cx="4296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HK" sz="1800">
                <a:solidFill>
                  <a:schemeClr val="lt1"/>
                </a:solidFill>
                <a:latin typeface="Alfa Slab One"/>
                <a:ea typeface="Alfa Slab One"/>
                <a:cs typeface="Alfa Slab One"/>
                <a:sym typeface="Alfa Slab One"/>
              </a:rPr>
              <a:t>→</a:t>
            </a:r>
            <a:endParaRPr b="1" sz="1800">
              <a:solidFill>
                <a:schemeClr val="lt1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332" name="Google Shape;332;p40"/>
          <p:cNvSpPr txBox="1"/>
          <p:nvPr/>
        </p:nvSpPr>
        <p:spPr>
          <a:xfrm>
            <a:off x="7867200" y="3284300"/>
            <a:ext cx="12768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HK" sz="15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Multi-slice Input</a:t>
            </a:r>
            <a:endParaRPr sz="150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pic>
        <p:nvPicPr>
          <p:cNvPr id="333" name="Google Shape;33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5725" y="4052800"/>
            <a:ext cx="1538942" cy="10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