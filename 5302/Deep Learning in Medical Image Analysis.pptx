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Lst>
  <p:notesMasterIdLst>
    <p:notesMasterId r:id="rId10"/>
  </p:notesMasterIdLst>
  <p:sldIdLst>
    <p:sldId id="256" r:id="rId9"/>
    <p:sldId id="264" r:id="rId11"/>
    <p:sldId id="257" r:id="rId12"/>
    <p:sldId id="266" r:id="rId13"/>
    <p:sldId id="259" r:id="rId14"/>
    <p:sldId id="267" r:id="rId15"/>
    <p:sldId id="268" r:id="rId16"/>
    <p:sldId id="260" r:id="rId17"/>
    <p:sldId id="26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a:solidFill>
                  <a:srgbClr val="000000"/>
                </a:solidFill>
              </a:rPr>
              <a:t>hello everyone. My presentation is about the topic: A Comprehensive Review combined DL and MIA </a:t>
            </a:r>
            <a:endParaRPr lang="en-US" altLang="zh-CN" sz="1400" b="0" i="0" u="none" strike="noStrike">
              <a:solidFill>
                <a:srgbClr val="000000"/>
              </a:solidFill>
            </a:endParaRPr>
          </a:p>
          <a:p>
            <a:pPr indent="0" algn="l">
              <a:lnSpc>
                <a:spcPct val="100000"/>
              </a:lnSpc>
            </a:pP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a:solidFill>
                  <a:srgbClr val="000000"/>
                </a:solidFill>
                <a:sym typeface="+mn-ea"/>
              </a:rPr>
              <a:t>This presentation is based on the paper with the same name published in 2025.</a:t>
            </a:r>
            <a:endParaRPr lang="en-US" altLang="zh-CN">
              <a:solidFill>
                <a:srgbClr val="000000"/>
              </a:solidFill>
              <a:sym typeface="+mn-ea"/>
            </a:endParaRPr>
          </a:p>
          <a:p>
            <a:pPr indent="0" algn="l">
              <a:lnSpc>
                <a:spcPct val="100000"/>
              </a:lnSpc>
            </a:pPr>
            <a:r>
              <a:rPr lang="en-US" altLang="zh-CN" b="0" i="0" u="none" strike="noStrike">
                <a:solidFill>
                  <a:srgbClr val="000000"/>
                </a:solidFill>
              </a:rPr>
              <a:t>I will use these as materials to discuss the importance and challenges of deep learning in MIA.</a:t>
            </a:r>
            <a:endParaRPr lang="en-US" altLang="zh-CN" b="0" i="0" u="none" strike="noStrike">
              <a:solidFill>
                <a:srgbClr val="000000"/>
              </a:solidFill>
            </a:endParaRPr>
          </a:p>
          <a:p>
            <a:pPr indent="0" algn="l">
              <a:lnSpc>
                <a:spcPct val="100000"/>
              </a:lnSpc>
            </a:pPr>
            <a:endParaRPr lang="en-US" sz="1400" b="0" i="0" u="none" strike="noStrike">
              <a:solidFill>
                <a:srgbClr val="000000"/>
              </a:solidFill>
            </a:endParaRPr>
          </a:p>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a:solidFill>
                  <a:srgbClr val="000000"/>
                </a:solidFill>
              </a:rPr>
              <a:t>Deep learning has revolutionized this field. that what we have learned from our course .Therefore, the way for evaluating these models obviously need to vary depending on the different mia tasks., </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a:solidFill>
                  <a:srgbClr val="000000"/>
                </a:solidFill>
              </a:rPr>
              <a:t>This table presents the author's critical summary of all representative models </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 Supervised learning remains the most helpful approach in the field,However, the author also mentioned many clinical limitations, such as poor scalability, high cost.</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In contrast, unsupervised learning offers us  a  label-free future, but it is extremely hard to guarantee clinical reliability</a:t>
            </a:r>
            <a:endParaRPr lang="en-US" altLang="zh-CN" sz="1400" b="0" i="0" u="none" strike="noStrike">
              <a:solidFill>
                <a:srgbClr val="000000"/>
              </a:solidFill>
            </a:endParaRPr>
          </a:p>
          <a:p>
            <a:pPr indent="0" algn="l">
              <a:lnSpc>
                <a:spcPct val="100000"/>
              </a:lnSpc>
            </a:pP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the author mentioned Federated Learning </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the data stays safely behind the hospital's firewall, and only the 'model weights' travel in different networks.</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This enables preserving patient privacy, though it also requires a highly alignment.</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a:solidFill>
                  <a:srgbClr val="000000"/>
                </a:solidFill>
              </a:rPr>
              <a:t>Here I select two applications to show the evaluation process of this paper.One is a familiar but fundamental step in quantitative medical analysis,segmentation, and the other one is we learn less in our course but equally important, enhancement.</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 I directly compare the current application status of several methods. </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you can see U-Net or some variants  efficient, stable but sometimes miss the bigger picture while Transformer-based models improve global context .  their cost are highly expensive. </a:t>
            </a:r>
            <a:endParaRPr lang="en-US" altLang="zh-CN" sz="1400" b="0" i="0" u="none" strike="noStrike">
              <a:solidFill>
                <a:srgbClr val="000000"/>
              </a:solidFill>
            </a:endParaRPr>
          </a:p>
          <a:p>
            <a:pPr indent="0" algn="l">
              <a:lnSpc>
                <a:spcPct val="100000"/>
              </a:lnSpc>
            </a:pP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For Medical image enhancement,</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Traditional algorithms rely on noise solution, which often results in 'blurring' the very details we need to see.  </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modern  approaches treat enhancement  Instead of just filtering noise, these models reconstruct high-quality outputs from low-quality radiation scans</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a:solidFill>
                  <a:srgbClr val="000000"/>
                </a:solidFill>
              </a:rPr>
              <a:t>They notice that the line between experimental models and those ready for clinical development is often blurred in nowadays research.  So they propose a maturity mapping framework </a:t>
            </a:r>
            <a:endParaRPr lang="en-US" altLang="zh-CN" sz="1400" b="0" i="0" u="none" strike="noStrike">
              <a:solidFill>
                <a:srgbClr val="000000"/>
              </a:solidFill>
            </a:endParaRPr>
          </a:p>
          <a:p>
            <a:pPr indent="0" algn="l">
              <a:lnSpc>
                <a:spcPct val="100000"/>
              </a:lnSpc>
            </a:pP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With this mapping table, Research models with low maturity (e.g., transformers, GANs) should be presented with disclaimers, To prevent the misuse of conceptual models in clinical practice, which could result in dangerous or harmful situations. </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black box </a:t>
            </a:r>
            <a:endParaRPr lang="en-US" sz="1400" b="0" i="0" u="none" strike="noStrike">
              <a:solidFill>
                <a:srgbClr val="000000"/>
              </a:solidFill>
            </a:endParaRPr>
          </a:p>
          <a:p>
            <a:pPr indent="0" algn="l">
              <a:lnSpc>
                <a:spcPct val="100000"/>
              </a:lnSpc>
            </a:pPr>
            <a:r>
              <a:rPr lang="en-US" altLang="zh-CN" sz="1400" b="0" i="0" u="none" strike="noStrike">
                <a:solidFill>
                  <a:srgbClr val="000000"/>
                </a:solidFill>
              </a:rPr>
              <a:t>Even if a model has 99% accuracy, a doctor cannot simply take its word to real life. In a high-risk environment like an ICU or a surgical suite, 'the AI said so' is not a valid convinced clinical method.</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To bridge this gap, the auhtor mentioned some methods  , but I believe since doctors and patients are all humanbeings ,at least so far,</a:t>
            </a:r>
            <a:endParaRPr lang="en-US" altLang="zh-CN" sz="1400" b="0" i="0" u="none" strike="noStrike">
              <a:solidFill>
                <a:srgbClr val="000000"/>
              </a:solidFill>
            </a:endParaRPr>
          </a:p>
          <a:p>
            <a:pPr indent="0" algn="l">
              <a:lnSpc>
                <a:spcPct val="100000"/>
              </a:lnSpc>
            </a:pPr>
            <a:r>
              <a:rPr lang="en-US" altLang="zh-CN" sz="1400" b="0" i="0" u="none" strike="noStrike">
                <a:solidFill>
                  <a:srgbClr val="000000"/>
                </a:solidFill>
              </a:rPr>
              <a:t>the black box problem is still waiting to be discussed forever.</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6.svg"/><Relationship Id="rId43" Type="http://schemas.openxmlformats.org/officeDocument/2006/relationships/notesSlide" Target="../notesSlides/notesSlide3.xml"/><Relationship Id="rId42" Type="http://schemas.openxmlformats.org/officeDocument/2006/relationships/slideLayout" Target="../slideLayouts/slideLayout12.xml"/><Relationship Id="rId41" Type="http://schemas.openxmlformats.org/officeDocument/2006/relationships/image" Target="../media/image36.svg"/><Relationship Id="rId40" Type="http://schemas.openxmlformats.org/officeDocument/2006/relationships/image" Target="../media/image35.png"/><Relationship Id="rId4" Type="http://schemas.openxmlformats.org/officeDocument/2006/relationships/image" Target="../media/image5.png"/><Relationship Id="rId39" Type="http://schemas.openxmlformats.org/officeDocument/2006/relationships/image" Target="../media/image34.svg"/><Relationship Id="rId38" Type="http://schemas.openxmlformats.org/officeDocument/2006/relationships/image" Target="../media/image33.png"/><Relationship Id="rId37" Type="http://schemas.openxmlformats.org/officeDocument/2006/relationships/image" Target="../media/image32.svg"/><Relationship Id="rId36" Type="http://schemas.openxmlformats.org/officeDocument/2006/relationships/image" Target="../media/image31.png"/><Relationship Id="rId35" Type="http://schemas.openxmlformats.org/officeDocument/2006/relationships/image" Target="../media/image30.svg"/><Relationship Id="rId34" Type="http://schemas.openxmlformats.org/officeDocument/2006/relationships/image" Target="../media/image29.png"/><Relationship Id="rId33" Type="http://schemas.openxmlformats.org/officeDocument/2006/relationships/image" Target="../media/image28.svg"/><Relationship Id="rId32" Type="http://schemas.openxmlformats.org/officeDocument/2006/relationships/image" Target="../media/image27.png"/><Relationship Id="rId31" Type="http://schemas.openxmlformats.org/officeDocument/2006/relationships/image" Target="../media/image26.svg"/><Relationship Id="rId30" Type="http://schemas.openxmlformats.org/officeDocument/2006/relationships/image" Target="../media/image25.png"/><Relationship Id="rId3" Type="http://schemas.openxmlformats.org/officeDocument/2006/relationships/tags" Target="../tags/tag2.xml"/><Relationship Id="rId29" Type="http://schemas.openxmlformats.org/officeDocument/2006/relationships/image" Target="../media/image24.svg"/><Relationship Id="rId28" Type="http://schemas.openxmlformats.org/officeDocument/2006/relationships/image" Target="../media/image23.png"/><Relationship Id="rId27" Type="http://schemas.openxmlformats.org/officeDocument/2006/relationships/image" Target="../media/image22.svg"/><Relationship Id="rId26" Type="http://schemas.openxmlformats.org/officeDocument/2006/relationships/image" Target="../media/image21.png"/><Relationship Id="rId25" Type="http://schemas.openxmlformats.org/officeDocument/2006/relationships/image" Target="../media/image20.svg"/><Relationship Id="rId24" Type="http://schemas.openxmlformats.org/officeDocument/2006/relationships/image" Target="../media/image19.png"/><Relationship Id="rId23" Type="http://schemas.openxmlformats.org/officeDocument/2006/relationships/image" Target="../media/image18.svg"/><Relationship Id="rId22" Type="http://schemas.openxmlformats.org/officeDocument/2006/relationships/image" Target="../media/image17.png"/><Relationship Id="rId21" Type="http://schemas.openxmlformats.org/officeDocument/2006/relationships/image" Target="../media/image16.svg"/><Relationship Id="rId20" Type="http://schemas.openxmlformats.org/officeDocument/2006/relationships/image" Target="../media/image15.png"/><Relationship Id="rId2" Type="http://schemas.openxmlformats.org/officeDocument/2006/relationships/tags" Target="../tags/tag1.xml"/><Relationship Id="rId19" Type="http://schemas.openxmlformats.org/officeDocument/2006/relationships/image" Target="../media/image14.svg"/><Relationship Id="rId18" Type="http://schemas.openxmlformats.org/officeDocument/2006/relationships/image" Target="../media/image13.png"/><Relationship Id="rId17" Type="http://schemas.openxmlformats.org/officeDocument/2006/relationships/image" Target="../media/image12.svg"/><Relationship Id="rId16" Type="http://schemas.openxmlformats.org/officeDocument/2006/relationships/image" Target="../media/image11.png"/><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image" Target="../media/image10.svg"/><Relationship Id="rId12" Type="http://schemas.openxmlformats.org/officeDocument/2006/relationships/image" Target="../media/image9.png"/><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4.xml"/><Relationship Id="rId2" Type="http://schemas.openxmlformats.org/officeDocument/2006/relationships/tags" Target="../tags/tag9.xml"/><Relationship Id="rId1" Type="http://schemas.openxmlformats.org/officeDocument/2006/relationships/image" Target="../media/image37.jpeg"/></Relationships>
</file>

<file path=ppt/slides/_rels/slide5.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3" Type="http://schemas.openxmlformats.org/officeDocument/2006/relationships/notesSlide" Target="../notesSlides/notesSlide5.xml"/><Relationship Id="rId12" Type="http://schemas.openxmlformats.org/officeDocument/2006/relationships/slideLayout" Target="../slideLayouts/slideLayout12.xml"/><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image" Target="../media/image3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6.xml"/><Relationship Id="rId2" Type="http://schemas.openxmlformats.org/officeDocument/2006/relationships/image" Target="../media/image41.pn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tags" Target="../tags/tag18.xml"/><Relationship Id="rId3" Type="http://schemas.openxmlformats.org/officeDocument/2006/relationships/tags" Target="../tags/tag17.xml"/><Relationship Id="rId28" Type="http://schemas.openxmlformats.org/officeDocument/2006/relationships/notesSlide" Target="../notesSlides/notesSlide8.xml"/><Relationship Id="rId27" Type="http://schemas.openxmlformats.org/officeDocument/2006/relationships/slideLayout" Target="../slideLayouts/slideLayout12.xml"/><Relationship Id="rId26" Type="http://schemas.openxmlformats.org/officeDocument/2006/relationships/tags" Target="../tags/tag32.xml"/><Relationship Id="rId25" Type="http://schemas.openxmlformats.org/officeDocument/2006/relationships/tags" Target="../tags/tag31.xml"/><Relationship Id="rId24" Type="http://schemas.openxmlformats.org/officeDocument/2006/relationships/image" Target="../media/image51.svg"/><Relationship Id="rId23" Type="http://schemas.openxmlformats.org/officeDocument/2006/relationships/image" Target="../media/image50.png"/><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image" Target="../media/image43.jpeg"/><Relationship Id="rId19" Type="http://schemas.openxmlformats.org/officeDocument/2006/relationships/tags" Target="../tags/tag27.xml"/><Relationship Id="rId18" Type="http://schemas.openxmlformats.org/officeDocument/2006/relationships/image" Target="../media/image49.svg"/><Relationship Id="rId17" Type="http://schemas.openxmlformats.org/officeDocument/2006/relationships/image" Target="../media/image48.png"/><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image" Target="../media/image47.svg"/><Relationship Id="rId11" Type="http://schemas.openxmlformats.org/officeDocument/2006/relationships/image" Target="../media/image46.png"/><Relationship Id="rId10" Type="http://schemas.openxmlformats.org/officeDocument/2006/relationships/tags" Target="../tags/tag22.xml"/><Relationship Id="rId1" Type="http://schemas.openxmlformats.org/officeDocument/2006/relationships/image" Target="../media/image4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5588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462405"/>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FFFFFF"/>
                </a:solidFill>
                <a:latin typeface="Bahnschrift SemiBold" panose="020B0502040204020203" charset="0"/>
                <a:ea typeface="Poppins"/>
                <a:cs typeface="Bahnschrift SemiBold" panose="020B0502040204020203" charset="0"/>
                <a:sym typeface="Poppins"/>
              </a:rPr>
              <a:t>Deep Learning in Medical Image Analysis:</a:t>
            </a:r>
            <a:endParaRPr lang="en-US" sz="4800" b="1" i="0" u="none" strike="noStrike">
              <a:solidFill>
                <a:srgbClr val="FFFFFF"/>
              </a:solidFill>
              <a:latin typeface="Bahnschrift SemiBold" panose="020B0502040204020203" charset="0"/>
              <a:ea typeface="Poppins"/>
              <a:cs typeface="Bahnschrift SemiBold" panose="020B0502040204020203" charset="0"/>
              <a:sym typeface="Poppins"/>
            </a:endParaRPr>
          </a:p>
          <a:p>
            <a:pPr indent="0" algn="ctr">
              <a:lnSpc>
                <a:spcPct val="100000"/>
              </a:lnSpc>
              <a:defRPr/>
            </a:pPr>
            <a:r>
              <a:rPr lang="en-US" altLang="zh-CN" sz="4800" b="1" i="0" u="none" strike="noStrike">
                <a:solidFill>
                  <a:srgbClr val="FFFFFF"/>
                </a:solidFill>
                <a:latin typeface="Bahnschrift SemiBold" panose="020B0502040204020203" charset="0"/>
                <a:ea typeface="Poppins"/>
                <a:cs typeface="Bahnschrift SemiBold" panose="020B0502040204020203" charset="0"/>
                <a:sym typeface="Poppins"/>
              </a:rPr>
              <a:t>A Comprehensive Review </a:t>
            </a:r>
            <a:endParaRPr lang="en-US" sz="1100">
              <a:latin typeface="Bahnschrift SemiBold" panose="020B0502040204020203" charset="0"/>
              <a:cs typeface="Bahnschrift SemiBold" panose="020B0502040204020203" charset="0"/>
            </a:endParaRPr>
          </a:p>
        </p:txBody>
      </p:sp>
      <p:sp>
        <p:nvSpPr>
          <p:cNvPr id="4" name="AutoShape 4"/>
          <p:cNvSpPr/>
          <p:nvPr/>
        </p:nvSpPr>
        <p:spPr>
          <a:xfrm>
            <a:off x="0" y="342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3200" b="1" i="0" u="none" strike="noStrike" spc="100">
                <a:solidFill>
                  <a:srgbClr val="FFC000"/>
                </a:solidFill>
                <a:latin typeface="Consolas" panose="020B0609020204030204" charset="0"/>
                <a:ea typeface="Poppins"/>
                <a:cs typeface="Consolas" panose="020B0609020204030204" charset="0"/>
                <a:sym typeface="Poppins"/>
              </a:rPr>
              <a:t>Model Readiness Assessment: </a:t>
            </a:r>
            <a:endParaRPr lang="en-US" altLang="zh-CN" sz="3200" b="1" i="0" u="none" strike="noStrike" spc="100">
              <a:solidFill>
                <a:srgbClr val="FFC000"/>
              </a:solidFill>
              <a:latin typeface="Consolas" panose="020B0609020204030204" charset="0"/>
              <a:ea typeface="Poppins"/>
              <a:cs typeface="Consolas" panose="020B0609020204030204" charset="0"/>
              <a:sym typeface="Poppins"/>
            </a:endParaRPr>
          </a:p>
          <a:p>
            <a:pPr indent="0" algn="ctr">
              <a:lnSpc>
                <a:spcPct val="125000"/>
              </a:lnSpc>
              <a:defRPr/>
            </a:pPr>
            <a:r>
              <a:rPr lang="en-US" altLang="zh-CN" sz="3200" b="1" i="0" u="none" strike="noStrike" spc="100">
                <a:solidFill>
                  <a:srgbClr val="FFC000"/>
                </a:solidFill>
                <a:latin typeface="Consolas" panose="020B0609020204030204" charset="0"/>
                <a:ea typeface="宋体" panose="02010600030101010101" pitchFamily="2" charset="-122"/>
                <a:cs typeface="Consolas" panose="020B0609020204030204" charset="0"/>
                <a:sym typeface="Poppins"/>
              </a:rPr>
              <a:t>From Research to Clinic</a:t>
            </a:r>
            <a:endParaRPr lang="en-US" altLang="zh-CN" sz="3200" b="1" i="0" u="none" strike="noStrike" spc="100">
              <a:solidFill>
                <a:srgbClr val="FFC000"/>
              </a:solidFill>
              <a:latin typeface="Consolas" panose="020B0609020204030204" charset="0"/>
              <a:ea typeface="宋体" panose="02010600030101010101" pitchFamily="2" charset="-122"/>
              <a:cs typeface="Consolas" panose="020B0609020204030204" charset="0"/>
              <a:sym typeface="Poppins"/>
            </a:endParaRPr>
          </a:p>
        </p:txBody>
      </p:sp>
      <p:sp>
        <p:nvSpPr>
          <p:cNvPr id="5" name="AutoShape 5"/>
          <p:cNvSpPr/>
          <p:nvPr/>
        </p:nvSpPr>
        <p:spPr>
          <a:xfrm>
            <a:off x="5588000" y="4318000"/>
            <a:ext cx="10160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953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90196"/>
                  </a:srgbClr>
                </a:solidFill>
                <a:latin typeface="Poppins"/>
                <a:ea typeface="Poppins"/>
                <a:cs typeface="Poppins"/>
                <a:sym typeface="Poppins"/>
              </a:rPr>
              <a:t>PRESENTER: Yang Fenghsuo</a:t>
            </a:r>
            <a:endParaRPr lang="en-US" sz="1100"/>
          </a:p>
        </p:txBody>
      </p:sp>
      <p:sp>
        <p:nvSpPr>
          <p:cNvPr id="7" name="AutoShape 7"/>
          <p:cNvSpPr/>
          <p:nvPr/>
        </p:nvSpPr>
        <p:spPr>
          <a:xfrm>
            <a:off x="0" y="5461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Poppins"/>
                <a:ea typeface="Poppins"/>
                <a:cs typeface="Poppins"/>
                <a:sym typeface="Poppins"/>
              </a:rPr>
              <a:t>DATE: APRIL 21,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70000"/>
            </a:srgbClr>
          </a:solidFill>
          <a:ln w="25400" cap="flat" cmpd="sng">
            <a:noFill/>
            <a:prstDash val="solid"/>
            <a:round/>
          </a:ln>
        </p:spPr>
        <p:txBody>
          <a:bodyPr vert="horz" wrap="square" lIns="63500" tIns="63500" rIns="63500" bIns="63500" rtlCol="0" anchor="ctr"/>
          <a:lstStyle/>
          <a:p>
            <a:pPr algn="ctr">
              <a:defRPr/>
            </a:pPr>
          </a:p>
        </p:txBody>
      </p:sp>
      <p:pic>
        <p:nvPicPr>
          <p:cNvPr id="8" name="图片 7"/>
          <p:cNvPicPr>
            <a:picLocks noChangeAspect="1"/>
          </p:cNvPicPr>
          <p:nvPr/>
        </p:nvPicPr>
        <p:blipFill>
          <a:blip r:embed="rId2"/>
          <a:stretch>
            <a:fillRect/>
          </a:stretch>
        </p:blipFill>
        <p:spPr>
          <a:xfrm>
            <a:off x="5520055" y="103505"/>
            <a:ext cx="6573520" cy="3519170"/>
          </a:xfrm>
          <a:prstGeom prst="rect">
            <a:avLst/>
          </a:prstGeom>
        </p:spPr>
      </p:pic>
      <p:sp>
        <p:nvSpPr>
          <p:cNvPr id="9" name="AutoShape 3"/>
          <p:cNvSpPr/>
          <p:nvPr/>
        </p:nvSpPr>
        <p:spPr>
          <a:xfrm>
            <a:off x="1524000" y="185483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chemeClr val="bg1"/>
                </a:solidFill>
                <a:latin typeface="微软雅黑" panose="020B0503020204020204" charset="-122"/>
                <a:ea typeface="微软雅黑" panose="020B0503020204020204" charset="-122"/>
                <a:cs typeface="Poppins"/>
                <a:sym typeface="Poppins"/>
              </a:rPr>
              <a:t>Based on: </a:t>
            </a:r>
            <a:endParaRPr lang="en-US" sz="3200" b="1" i="0" u="none" strike="noStrike">
              <a:solidFill>
                <a:schemeClr val="bg1"/>
              </a:solidFill>
              <a:latin typeface="微软雅黑" panose="020B0503020204020204" charset="-122"/>
              <a:ea typeface="微软雅黑" panose="020B0503020204020204" charset="-122"/>
              <a:cs typeface="Poppins"/>
              <a:sym typeface="Poppins"/>
            </a:endParaRPr>
          </a:p>
        </p:txBody>
      </p:sp>
      <p:pic>
        <p:nvPicPr>
          <p:cNvPr id="13" name="图片 12"/>
          <p:cNvPicPr>
            <a:picLocks noChangeAspect="1"/>
          </p:cNvPicPr>
          <p:nvPr/>
        </p:nvPicPr>
        <p:blipFill>
          <a:blip r:embed="rId3"/>
          <a:stretch>
            <a:fillRect/>
          </a:stretch>
        </p:blipFill>
        <p:spPr>
          <a:xfrm>
            <a:off x="47625" y="3622675"/>
            <a:ext cx="5472430" cy="26606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微软雅黑" panose="020B0503020204020204" charset="-122"/>
                <a:ea typeface="微软雅黑" panose="020B0503020204020204" charset="-122"/>
                <a:cs typeface="Poppins"/>
                <a:sym typeface="Poppins"/>
              </a:rPr>
              <a:t>Introduction: The Convergence of DL and MIA</a:t>
            </a:r>
            <a:endParaRPr lang="en-US" sz="3200" b="1" i="0" u="none" strike="noStrike">
              <a:solidFill>
                <a:srgbClr val="1F2937"/>
              </a:solidFill>
              <a:latin typeface="微软雅黑" panose="020B0503020204020204" charset="-122"/>
              <a:ea typeface="微软雅黑" panose="020B0503020204020204" charset="-122"/>
              <a:cs typeface="Poppins"/>
              <a:sym typeface="Poppins"/>
            </a:endParaRPr>
          </a:p>
        </p:txBody>
      </p:sp>
      <p:grpSp>
        <p:nvGrpSpPr>
          <p:cNvPr id="61" name="组合 60"/>
          <p:cNvGrpSpPr/>
          <p:nvPr/>
        </p:nvGrpSpPr>
        <p:grpSpPr>
          <a:xfrm>
            <a:off x="375285" y="1412875"/>
            <a:ext cx="5050790" cy="4759325"/>
            <a:chOff x="10674" y="2503"/>
            <a:chExt cx="7954" cy="7495"/>
          </a:xfrm>
        </p:grpSpPr>
        <p:sp>
          <p:nvSpPr>
            <p:cNvPr id="30" name="AutoShape 5"/>
            <p:cNvSpPr/>
            <p:nvPr/>
          </p:nvSpPr>
          <p:spPr>
            <a:xfrm>
              <a:off x="10966" y="2503"/>
              <a:ext cx="7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Main Paradigms</a:t>
              </a:r>
              <a:endParaRPr lang="en-US" sz="16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3" name="AutoShape 6"/>
            <p:cNvSpPr/>
            <p:nvPr>
              <p:custDataLst>
                <p:tags r:id="rId2"/>
              </p:custDataLst>
            </p:nvPr>
          </p:nvSpPr>
          <p:spPr>
            <a:xfrm>
              <a:off x="10698" y="3078"/>
              <a:ext cx="3700" cy="1400"/>
            </a:xfrm>
            <a:prstGeom prst="roundRect">
              <a:avLst>
                <a:gd name="adj" fmla="val 11428"/>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78" y="3240"/>
              <a:ext cx="640" cy="640"/>
            </a:xfrm>
            <a:prstGeom prst="rect">
              <a:avLst/>
            </a:prstGeom>
          </p:spPr>
        </p:pic>
        <p:sp>
          <p:nvSpPr>
            <p:cNvPr id="35" name="AutoShape 8"/>
            <p:cNvSpPr/>
            <p:nvPr>
              <p:custDataLst>
                <p:tags r:id="rId6"/>
              </p:custDataLst>
            </p:nvPr>
          </p:nvSpPr>
          <p:spPr>
            <a:xfrm>
              <a:off x="11649" y="3280"/>
              <a:ext cx="27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Convolutional Neural Networks (CNNs)</a:t>
              </a:r>
              <a:endParaRPr lang="en-US" sz="1100"/>
            </a:p>
          </p:txBody>
        </p:sp>
        <p:sp>
          <p:nvSpPr>
            <p:cNvPr id="36" name="AutoShape 10"/>
            <p:cNvSpPr/>
            <p:nvPr/>
          </p:nvSpPr>
          <p:spPr>
            <a:xfrm>
              <a:off x="14895" y="3078"/>
              <a:ext cx="3700" cy="1400"/>
            </a:xfrm>
            <a:prstGeom prst="roundRect">
              <a:avLst>
                <a:gd name="adj" fmla="val 11428"/>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37" name="Picture 11"/>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995" y="3240"/>
              <a:ext cx="640" cy="640"/>
            </a:xfrm>
            <a:prstGeom prst="rect">
              <a:avLst/>
            </a:prstGeom>
          </p:spPr>
        </p:pic>
        <p:sp>
          <p:nvSpPr>
            <p:cNvPr id="38" name="AutoShape 12"/>
            <p:cNvSpPr/>
            <p:nvPr/>
          </p:nvSpPr>
          <p:spPr>
            <a:xfrm>
              <a:off x="15795" y="3200"/>
              <a:ext cx="26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Models</a:t>
              </a:r>
              <a:endParaRPr lang="en-US" sz="1100"/>
            </a:p>
          </p:txBody>
        </p:sp>
        <p:sp>
          <p:nvSpPr>
            <p:cNvPr id="39" name="AutoShape 14"/>
            <p:cNvSpPr/>
            <p:nvPr>
              <p:custDataLst>
                <p:tags r:id="rId10"/>
              </p:custDataLst>
            </p:nvPr>
          </p:nvSpPr>
          <p:spPr>
            <a:xfrm>
              <a:off x="10687" y="4784"/>
              <a:ext cx="3700" cy="1400"/>
            </a:xfrm>
            <a:prstGeom prst="roundRect">
              <a:avLst>
                <a:gd name="adj" fmla="val 11428"/>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15"/>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49" y="5024"/>
              <a:ext cx="640" cy="640"/>
            </a:xfrm>
            <a:prstGeom prst="rect">
              <a:avLst/>
            </a:prstGeom>
          </p:spPr>
        </p:pic>
        <p:sp>
          <p:nvSpPr>
            <p:cNvPr id="41" name="AutoShape 16"/>
            <p:cNvSpPr/>
            <p:nvPr>
              <p:custDataLst>
                <p:tags r:id="rId14"/>
              </p:custDataLst>
            </p:nvPr>
          </p:nvSpPr>
          <p:spPr>
            <a:xfrm>
              <a:off x="11649" y="4984"/>
              <a:ext cx="27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Generative Adversarial Networks (GANs)</a:t>
              </a:r>
              <a:endParaRPr lang="en-US" sz="1100"/>
            </a:p>
          </p:txBody>
        </p:sp>
        <p:sp>
          <p:nvSpPr>
            <p:cNvPr id="42" name="AutoShape 18"/>
            <p:cNvSpPr/>
            <p:nvPr/>
          </p:nvSpPr>
          <p:spPr>
            <a:xfrm>
              <a:off x="14928" y="4784"/>
              <a:ext cx="3700" cy="1400"/>
            </a:xfrm>
            <a:prstGeom prst="roundRect">
              <a:avLst>
                <a:gd name="adj" fmla="val 11428"/>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43" name="Picture 19"/>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128" y="4984"/>
              <a:ext cx="640" cy="640"/>
            </a:xfrm>
            <a:prstGeom prst="rect">
              <a:avLst/>
            </a:prstGeom>
          </p:spPr>
        </p:pic>
        <p:sp>
          <p:nvSpPr>
            <p:cNvPr id="44" name="AutoShape 20"/>
            <p:cNvSpPr/>
            <p:nvPr/>
          </p:nvSpPr>
          <p:spPr>
            <a:xfrm>
              <a:off x="15928" y="4944"/>
              <a:ext cx="2600" cy="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Hybrid Models</a:t>
              </a:r>
              <a:endParaRPr lang="en-US" sz="1100"/>
            </a:p>
          </p:txBody>
        </p:sp>
        <p:sp>
          <p:nvSpPr>
            <p:cNvPr id="48" name="AutoShape 23"/>
            <p:cNvSpPr/>
            <p:nvPr/>
          </p:nvSpPr>
          <p:spPr>
            <a:xfrm>
              <a:off x="10966" y="6808"/>
              <a:ext cx="7600" cy="48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Advantages</a:t>
              </a:r>
              <a:endParaRPr lang="en-US" sz="16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9" name="AutoShape 24"/>
            <p:cNvSpPr/>
            <p:nvPr/>
          </p:nvSpPr>
          <p:spPr>
            <a:xfrm>
              <a:off x="10674" y="7480"/>
              <a:ext cx="3700" cy="1200"/>
            </a:xfrm>
            <a:prstGeom prst="roundRect">
              <a:avLst>
                <a:gd name="adj" fmla="val 13333"/>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50" name="Picture 25"/>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74" y="7680"/>
              <a:ext cx="560" cy="560"/>
            </a:xfrm>
            <a:prstGeom prst="rect">
              <a:avLst/>
            </a:prstGeom>
          </p:spPr>
        </p:pic>
        <p:sp>
          <p:nvSpPr>
            <p:cNvPr id="51" name="AutoShape 26"/>
            <p:cNvSpPr/>
            <p:nvPr/>
          </p:nvSpPr>
          <p:spPr>
            <a:xfrm>
              <a:off x="11574" y="7580"/>
              <a:ext cx="2800" cy="3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End-to-End Feature Learning</a:t>
              </a:r>
              <a:endParaRPr lang="en-US" sz="1100"/>
            </a:p>
          </p:txBody>
        </p:sp>
        <p:sp>
          <p:nvSpPr>
            <p:cNvPr id="52" name="AutoShape 28"/>
            <p:cNvSpPr/>
            <p:nvPr/>
          </p:nvSpPr>
          <p:spPr>
            <a:xfrm>
              <a:off x="14895" y="7484"/>
              <a:ext cx="3700" cy="1200"/>
            </a:xfrm>
            <a:prstGeom prst="roundRect">
              <a:avLst>
                <a:gd name="adj" fmla="val 13333"/>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53" name="Picture 29"/>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5095" y="7684"/>
              <a:ext cx="560" cy="560"/>
            </a:xfrm>
            <a:prstGeom prst="rect">
              <a:avLst/>
            </a:prstGeom>
          </p:spPr>
        </p:pic>
        <p:sp>
          <p:nvSpPr>
            <p:cNvPr id="54" name="AutoShape 30"/>
            <p:cNvSpPr/>
            <p:nvPr/>
          </p:nvSpPr>
          <p:spPr>
            <a:xfrm>
              <a:off x="15795" y="7584"/>
              <a:ext cx="2800" cy="3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Powerful Pattern Recognition</a:t>
              </a:r>
              <a:endParaRPr lang="en-US" sz="1100"/>
            </a:p>
          </p:txBody>
        </p:sp>
        <p:sp>
          <p:nvSpPr>
            <p:cNvPr id="55" name="AutoShape 32"/>
            <p:cNvSpPr/>
            <p:nvPr/>
          </p:nvSpPr>
          <p:spPr>
            <a:xfrm>
              <a:off x="10674" y="8880"/>
              <a:ext cx="3675" cy="1108"/>
            </a:xfrm>
            <a:prstGeom prst="roundRect">
              <a:avLst>
                <a:gd name="adj" fmla="val 1600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56" name="Picture 33"/>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874" y="9100"/>
              <a:ext cx="520" cy="520"/>
            </a:xfrm>
            <a:prstGeom prst="rect">
              <a:avLst/>
            </a:prstGeom>
          </p:spPr>
        </p:pic>
        <p:sp>
          <p:nvSpPr>
            <p:cNvPr id="57" name="AutoShape 34"/>
            <p:cNvSpPr/>
            <p:nvPr/>
          </p:nvSpPr>
          <p:spPr>
            <a:xfrm>
              <a:off x="11574" y="8920"/>
              <a:ext cx="2800" cy="8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Handling High-Dimensional Data</a:t>
              </a:r>
              <a:endParaRPr lang="en-US" sz="1100"/>
            </a:p>
          </p:txBody>
        </p:sp>
        <p:sp>
          <p:nvSpPr>
            <p:cNvPr id="58" name="AutoShape 35"/>
            <p:cNvSpPr/>
            <p:nvPr/>
          </p:nvSpPr>
          <p:spPr>
            <a:xfrm>
              <a:off x="14928" y="8880"/>
              <a:ext cx="3700" cy="1118"/>
            </a:xfrm>
            <a:prstGeom prst="roundRect">
              <a:avLst>
                <a:gd name="adj" fmla="val 1600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pic>
          <p:nvPicPr>
            <p:cNvPr id="59" name="Picture 36"/>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5128" y="9100"/>
              <a:ext cx="520" cy="520"/>
            </a:xfrm>
            <a:prstGeom prst="rect">
              <a:avLst/>
            </a:prstGeom>
          </p:spPr>
        </p:pic>
        <p:sp>
          <p:nvSpPr>
            <p:cNvPr id="60" name="AutoShape 37"/>
            <p:cNvSpPr/>
            <p:nvPr/>
          </p:nvSpPr>
          <p:spPr>
            <a:xfrm>
              <a:off x="15828" y="8920"/>
              <a:ext cx="2800" cy="8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Scalability and Generalization</a:t>
              </a:r>
              <a:endParaRPr lang="en-US" sz="1100"/>
            </a:p>
          </p:txBody>
        </p:sp>
      </p:grpSp>
      <p:grpSp>
        <p:nvGrpSpPr>
          <p:cNvPr id="62" name="组合 61"/>
          <p:cNvGrpSpPr/>
          <p:nvPr/>
        </p:nvGrpSpPr>
        <p:grpSpPr>
          <a:xfrm>
            <a:off x="6030595" y="1412875"/>
            <a:ext cx="5588000" cy="4953000"/>
            <a:chOff x="1200" y="2400"/>
            <a:chExt cx="8800" cy="7800"/>
          </a:xfrm>
          <a:solidFill>
            <a:schemeClr val="tx1">
              <a:lumMod val="50000"/>
              <a:lumOff val="50000"/>
            </a:schemeClr>
          </a:solidFill>
        </p:grpSpPr>
        <p:sp>
          <p:nvSpPr>
            <p:cNvPr id="63" name="AutoShape 4"/>
            <p:cNvSpPr/>
            <p:nvPr/>
          </p:nvSpPr>
          <p:spPr>
            <a:xfrm>
              <a:off x="1200" y="2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64" name="Picture 5"/>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500" y="2800"/>
              <a:ext cx="720" cy="720"/>
            </a:xfrm>
            <a:prstGeom prst="rect">
              <a:avLst/>
            </a:prstGeom>
          </p:spPr>
        </p:pic>
        <p:sp>
          <p:nvSpPr>
            <p:cNvPr id="65" name="AutoShape 6"/>
            <p:cNvSpPr/>
            <p:nvPr/>
          </p:nvSpPr>
          <p:spPr>
            <a:xfrm>
              <a:off x="2500" y="2640"/>
              <a:ext cx="2700" cy="480"/>
            </a:xfrm>
            <a:prstGeom prst="rect">
              <a:avLst/>
            </a:prstGeom>
            <a:grpFill/>
            <a:ln w="12700" cap="flat" cmpd="sng">
              <a:noFill/>
              <a:prstDash val="solid"/>
              <a:round/>
            </a:ln>
          </p:spPr>
          <p:txBody>
            <a:bodyPr vert="horz" wrap="square" lIns="0" tIns="0" rIns="0" bIns="0" rtlCol="0" anchor="ctr" anchorCtr="0"/>
            <a:lstStyle/>
            <a:p>
              <a:pPr indent="0" algn="just">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Classification</a:t>
              </a:r>
              <a:endParaRPr lang="en-US" sz="1100"/>
            </a:p>
          </p:txBody>
        </p:sp>
        <p:sp>
          <p:nvSpPr>
            <p:cNvPr id="67" name="AutoShape 8"/>
            <p:cNvSpPr/>
            <p:nvPr/>
          </p:nvSpPr>
          <p:spPr>
            <a:xfrm>
              <a:off x="1200" y="4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68" name="Picture 9"/>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00" y="4800"/>
              <a:ext cx="720" cy="720"/>
            </a:xfrm>
            <a:prstGeom prst="rect">
              <a:avLst/>
            </a:prstGeom>
          </p:spPr>
        </p:pic>
        <p:sp>
          <p:nvSpPr>
            <p:cNvPr id="69" name="AutoShape 10"/>
            <p:cNvSpPr/>
            <p:nvPr/>
          </p:nvSpPr>
          <p:spPr>
            <a:xfrm>
              <a:off x="2500" y="4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Segmentation</a:t>
              </a:r>
              <a:endParaRPr lang="en-US" sz="1100"/>
            </a:p>
          </p:txBody>
        </p:sp>
        <p:sp>
          <p:nvSpPr>
            <p:cNvPr id="71" name="AutoShape 12"/>
            <p:cNvSpPr/>
            <p:nvPr/>
          </p:nvSpPr>
          <p:spPr>
            <a:xfrm>
              <a:off x="1200" y="6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72" name="Picture 13"/>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500" y="6800"/>
              <a:ext cx="720" cy="720"/>
            </a:xfrm>
            <a:prstGeom prst="rect">
              <a:avLst/>
            </a:prstGeom>
          </p:spPr>
        </p:pic>
        <p:sp>
          <p:nvSpPr>
            <p:cNvPr id="73" name="AutoShape 14"/>
            <p:cNvSpPr/>
            <p:nvPr/>
          </p:nvSpPr>
          <p:spPr>
            <a:xfrm>
              <a:off x="2500" y="6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Detection</a:t>
              </a:r>
              <a:endParaRPr lang="en-US" sz="1100"/>
            </a:p>
          </p:txBody>
        </p:sp>
        <p:sp>
          <p:nvSpPr>
            <p:cNvPr id="75" name="AutoShape 16"/>
            <p:cNvSpPr/>
            <p:nvPr/>
          </p:nvSpPr>
          <p:spPr>
            <a:xfrm>
              <a:off x="1200" y="8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76" name="Picture 17"/>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500" y="8800"/>
              <a:ext cx="720" cy="720"/>
            </a:xfrm>
            <a:prstGeom prst="rect">
              <a:avLst/>
            </a:prstGeom>
          </p:spPr>
        </p:pic>
        <p:sp>
          <p:nvSpPr>
            <p:cNvPr id="77" name="AutoShape 18"/>
            <p:cNvSpPr/>
            <p:nvPr/>
          </p:nvSpPr>
          <p:spPr>
            <a:xfrm>
              <a:off x="2500" y="8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Fusion</a:t>
              </a:r>
              <a:endParaRPr lang="en-US" sz="1100"/>
            </a:p>
          </p:txBody>
        </p:sp>
        <p:sp>
          <p:nvSpPr>
            <p:cNvPr id="79" name="AutoShape 20"/>
            <p:cNvSpPr/>
            <p:nvPr/>
          </p:nvSpPr>
          <p:spPr>
            <a:xfrm>
              <a:off x="5800" y="2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80" name="Picture 21"/>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100" y="2800"/>
              <a:ext cx="720" cy="720"/>
            </a:xfrm>
            <a:prstGeom prst="rect">
              <a:avLst/>
            </a:prstGeom>
          </p:spPr>
        </p:pic>
        <p:sp>
          <p:nvSpPr>
            <p:cNvPr id="81" name="AutoShape 22"/>
            <p:cNvSpPr/>
            <p:nvPr/>
          </p:nvSpPr>
          <p:spPr>
            <a:xfrm>
              <a:off x="7100" y="2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Registration</a:t>
              </a:r>
              <a:endParaRPr lang="en-US" sz="1100"/>
            </a:p>
          </p:txBody>
        </p:sp>
        <p:sp>
          <p:nvSpPr>
            <p:cNvPr id="83" name="AutoShape 24"/>
            <p:cNvSpPr/>
            <p:nvPr/>
          </p:nvSpPr>
          <p:spPr>
            <a:xfrm>
              <a:off x="5800" y="4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84" name="Picture 25"/>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6100" y="4800"/>
              <a:ext cx="720" cy="720"/>
            </a:xfrm>
            <a:prstGeom prst="rect">
              <a:avLst/>
            </a:prstGeom>
          </p:spPr>
        </p:pic>
        <p:sp>
          <p:nvSpPr>
            <p:cNvPr id="85" name="AutoShape 26"/>
            <p:cNvSpPr/>
            <p:nvPr/>
          </p:nvSpPr>
          <p:spPr>
            <a:xfrm>
              <a:off x="7100" y="4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Enhancement</a:t>
              </a:r>
              <a:endParaRPr lang="en-US" sz="1100"/>
            </a:p>
          </p:txBody>
        </p:sp>
        <p:sp>
          <p:nvSpPr>
            <p:cNvPr id="87" name="AutoShape 28"/>
            <p:cNvSpPr/>
            <p:nvPr/>
          </p:nvSpPr>
          <p:spPr>
            <a:xfrm>
              <a:off x="5800" y="6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88" name="Picture 29"/>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100" y="6800"/>
              <a:ext cx="720" cy="720"/>
            </a:xfrm>
            <a:prstGeom prst="rect">
              <a:avLst/>
            </a:prstGeom>
          </p:spPr>
        </p:pic>
        <p:sp>
          <p:nvSpPr>
            <p:cNvPr id="89" name="AutoShape 30"/>
            <p:cNvSpPr/>
            <p:nvPr/>
          </p:nvSpPr>
          <p:spPr>
            <a:xfrm>
              <a:off x="7100" y="6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Restoration</a:t>
              </a:r>
              <a:endParaRPr lang="en-US" sz="1100"/>
            </a:p>
          </p:txBody>
        </p:sp>
        <p:sp>
          <p:nvSpPr>
            <p:cNvPr id="91" name="AutoShape 32"/>
            <p:cNvSpPr/>
            <p:nvPr/>
          </p:nvSpPr>
          <p:spPr>
            <a:xfrm>
              <a:off x="5800" y="8400"/>
              <a:ext cx="4200" cy="1800"/>
            </a:xfrm>
            <a:prstGeom prst="roundRect">
              <a:avLst>
                <a:gd name="adj" fmla="val 8888"/>
              </a:avLst>
            </a:prstGeom>
            <a:grpFill/>
            <a:ln w="12700" cap="flat" cmpd="sng">
              <a:solidFill>
                <a:srgbClr val="6EE7B7">
                  <a:alpha val="30000"/>
                </a:srgbClr>
              </a:solidFill>
              <a:prstDash val="solid"/>
              <a:round/>
            </a:ln>
          </p:spPr>
          <p:txBody>
            <a:bodyPr vert="horz" wrap="square" lIns="63500" tIns="63500" rIns="63500" bIns="63500" rtlCol="0" anchor="ctr"/>
            <a:lstStyle/>
            <a:p>
              <a:pPr algn="ctr">
                <a:defRPr/>
              </a:pPr>
            </a:p>
          </p:txBody>
        </p:sp>
        <p:pic>
          <p:nvPicPr>
            <p:cNvPr id="92" name="Picture 33"/>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6100" y="8800"/>
              <a:ext cx="720" cy="720"/>
            </a:xfrm>
            <a:prstGeom prst="rect">
              <a:avLst/>
            </a:prstGeom>
          </p:spPr>
        </p:pic>
        <p:sp>
          <p:nvSpPr>
            <p:cNvPr id="93" name="AutoShape 34"/>
            <p:cNvSpPr/>
            <p:nvPr/>
          </p:nvSpPr>
          <p:spPr>
            <a:xfrm>
              <a:off x="7100" y="8640"/>
              <a:ext cx="2700" cy="480"/>
            </a:xfrm>
            <a:prstGeom prst="rect">
              <a:avLst/>
            </a:prstGeom>
            <a:grp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EE7B7"/>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Generation</a:t>
              </a:r>
              <a:endParaRPr lang="en-US" sz="11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39065" y="328295"/>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微软雅黑" panose="020B0503020204020204" charset="-122"/>
                <a:ea typeface="微软雅黑" panose="020B0503020204020204" charset="-122"/>
                <a:cs typeface="Poppins"/>
                <a:sym typeface="Poppins"/>
              </a:rPr>
              <a:t>Comparison</a:t>
            </a:r>
            <a:r>
              <a:rPr lang="zh-CN" altLang="en-US" sz="3200" b="1" i="0" u="none" strike="noStrike">
                <a:solidFill>
                  <a:srgbClr val="1F2937"/>
                </a:solidFill>
                <a:latin typeface="微软雅黑" panose="020B0503020204020204" charset="-122"/>
                <a:ea typeface="微软雅黑" panose="020B0503020204020204" charset="-122"/>
                <a:cs typeface="Poppins"/>
                <a:sym typeface="Poppins"/>
              </a:rPr>
              <a:t>：</a:t>
            </a:r>
            <a:r>
              <a:rPr lang="en-US" sz="3200" b="1" i="0" u="none" strike="noStrike">
                <a:solidFill>
                  <a:srgbClr val="1F2937"/>
                </a:solidFill>
                <a:latin typeface="微软雅黑" panose="020B0503020204020204" charset="-122"/>
                <a:ea typeface="微软雅黑" panose="020B0503020204020204" charset="-122"/>
                <a:cs typeface="Poppins"/>
                <a:sym typeface="Poppins"/>
              </a:rPr>
              <a:t>Key Deep Learning Models</a:t>
            </a:r>
            <a:endParaRPr lang="en-US" sz="1100">
              <a:latin typeface="微软雅黑" panose="020B0503020204020204" charset="-122"/>
              <a:ea typeface="微软雅黑" panose="020B0503020204020204" charset="-122"/>
            </a:endParaRPr>
          </a:p>
        </p:txBody>
      </p:sp>
      <p:graphicFrame>
        <p:nvGraphicFramePr>
          <p:cNvPr id="7" name="表格 6"/>
          <p:cNvGraphicFramePr/>
          <p:nvPr>
            <p:custDataLst>
              <p:tags r:id="rId2"/>
            </p:custDataLst>
          </p:nvPr>
        </p:nvGraphicFramePr>
        <p:xfrm>
          <a:off x="139065" y="985520"/>
          <a:ext cx="11290935" cy="5808980"/>
        </p:xfrm>
        <a:graphic>
          <a:graphicData uri="http://schemas.openxmlformats.org/drawingml/2006/table">
            <a:tbl>
              <a:tblPr/>
              <a:tblGrid>
                <a:gridCol w="3763645"/>
                <a:gridCol w="3763645"/>
                <a:gridCol w="3763645"/>
              </a:tblGrid>
              <a:tr h="649605">
                <a:tc>
                  <a:txBody>
                    <a:bodyPr/>
                    <a:p>
                      <a:pPr algn="ctr"/>
                      <a:r>
                        <a:rPr lang="en-US" altLang="zh-CN" sz="2400" b="1" i="1">
                          <a:solidFill>
                            <a:srgbClr val="FF0000"/>
                          </a:solidFill>
                          <a:latin typeface="Arial" panose="020B0604020202020204" pitchFamily="34" charset="0"/>
                          <a:cs typeface="Arial" panose="020B0604020202020204" pitchFamily="34" charset="0"/>
                        </a:rPr>
                        <a:t>Methodological </a:t>
                      </a:r>
                      <a:endParaRPr lang="en-US" altLang="zh-CN" sz="2400" b="1" i="1">
                        <a:solidFill>
                          <a:srgbClr val="FF0000"/>
                        </a:solidFill>
                        <a:latin typeface="Arial" panose="020B0604020202020204" pitchFamily="34" charset="0"/>
                        <a:cs typeface="Arial" panose="020B0604020202020204" pitchFamily="34" charset="0"/>
                      </a:endParaRPr>
                    </a:p>
                  </a:txBody>
                  <a:tcPr marL="137160" marR="137160" marT="137160" marB="137160"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2400" b="1" i="1">
                          <a:solidFill>
                            <a:srgbClr val="FF0000"/>
                          </a:solidFill>
                          <a:latin typeface="Arial" panose="020B0604020202020204" pitchFamily="34" charset="0"/>
                          <a:cs typeface="Arial" panose="020B0604020202020204" pitchFamily="34" charset="0"/>
                        </a:rPr>
                        <a:t>Representative Models</a:t>
                      </a:r>
                      <a:endParaRPr lang="en-US" altLang="zh-CN" sz="2400" b="1" i="1">
                        <a:solidFill>
                          <a:srgbClr val="FF0000"/>
                        </a:solidFill>
                        <a:latin typeface="Arial" panose="020B0604020202020204" pitchFamily="34" charset="0"/>
                        <a:cs typeface="Arial" panose="020B0604020202020204" pitchFamily="34" charset="0"/>
                      </a:endParaRPr>
                    </a:p>
                  </a:txBody>
                  <a:tcPr marL="137160" marR="137160" marT="137160" marB="137160"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2400" b="1" i="1">
                          <a:solidFill>
                            <a:srgbClr val="FF0000"/>
                          </a:solidFill>
                          <a:latin typeface="Arial" panose="020B0604020202020204" pitchFamily="34" charset="0"/>
                          <a:cs typeface="Arial" panose="020B0604020202020204" pitchFamily="34" charset="0"/>
                        </a:rPr>
                        <a:t>Author’s Evaluation</a:t>
                      </a:r>
                      <a:endParaRPr lang="en-US" altLang="zh-CN" sz="2400" b="1" i="1">
                        <a:solidFill>
                          <a:srgbClr val="FF0000"/>
                        </a:solidFill>
                        <a:latin typeface="Arial" panose="020B0604020202020204" pitchFamily="34" charset="0"/>
                        <a:cs typeface="Arial" panose="020B0604020202020204" pitchFamily="34" charset="0"/>
                      </a:endParaRPr>
                    </a:p>
                  </a:txBody>
                  <a:tcPr marL="137160" marR="137160" marT="137160" marB="137160"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1120775">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Supervised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ResNet,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DenseNet,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U-Net,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TransUNet</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Mature, stable, and clinically applicable; highly dependent on labeled data</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791210">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Semi-Supervised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FixMatch,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VAT</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Effective for limited annotations; reduces labeling cost while maintaining performance</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871855">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Self-Supervised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MoCo,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SimSiam,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MAE</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Powerful for pre-training; improves generalization on small datasets; high computation cost</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792480">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Unsupervised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GANs,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clustering methods</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Exploratory but unstable; hard to guarantee clinical reliability</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791845">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Few-Shot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ProtoNet,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MAML</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Suitable for rare diseases; limited generalization in complex medical images</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r h="791210">
                <a:tc>
                  <a:txBody>
                    <a:bodyPr/>
                    <a:p>
                      <a:pPr algn="ctr"/>
                      <a:r>
                        <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rPr>
                        <a:t>Federated Learning</a:t>
                      </a:r>
                      <a:endParaRPr lang="en-US" altLang="zh-CN" sz="2000" b="1">
                        <a:gradFill>
                          <a:gsLst>
                            <a:gs pos="50000">
                              <a:schemeClr val="accent1"/>
                            </a:gs>
                            <a:gs pos="0">
                              <a:schemeClr val="accent1">
                                <a:lumMod val="25000"/>
                                <a:lumOff val="75000"/>
                              </a:schemeClr>
                            </a:gs>
                            <a:gs pos="100000">
                              <a:schemeClr val="accent1">
                                <a:lumMod val="85000"/>
                              </a:schemeClr>
                            </a:gs>
                          </a:gsLst>
                          <a:lin ang="5400000" scaled="1"/>
                        </a:gradFill>
                        <a:latin typeface="Bahnschrift SemiBold" panose="020B0502040204020203" charset="0"/>
                        <a:cs typeface="Bahnschrift SemiBold" panose="020B0502040204020203"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FedAvg, </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p>
                      <a:pPr algn="ctr"/>
                      <a:r>
                        <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rPr>
                        <a:t>FedProx</a:t>
                      </a:r>
                      <a:endParaRPr lang="en-US" altLang="zh-CN" sz="1600" b="1">
                        <a:gradFill>
                          <a:gsLst>
                            <a:gs pos="50000">
                              <a:schemeClr val="tx1"/>
                            </a:gs>
                            <a:gs pos="0">
                              <a:schemeClr val="tx1">
                                <a:lumMod val="25000"/>
                                <a:lumOff val="75000"/>
                              </a:schemeClr>
                            </a:gs>
                            <a:gs pos="100000">
                              <a:schemeClr val="tx1">
                                <a:lumMod val="85000"/>
                              </a:schemeClr>
                            </a:gs>
                          </a:gsLst>
                          <a:lin ang="5400000" scaled="1"/>
                        </a:gradFill>
                        <a:latin typeface="Consolas" panose="020B0609020204030204" charset="0"/>
                        <a:cs typeface="Consolas" panose="020B060902020403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c>
                  <a:txBody>
                    <a:bodyPr/>
                    <a:p>
                      <a:pPr algn="l"/>
                      <a:r>
                        <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rPr>
                        <a:t>Enables multi-center collaboration with privacy preservation; suffers from non-IID data issues</a:t>
                      </a:r>
                      <a:endParaRPr lang="en-US" altLang="zh-CN" sz="1200">
                        <a:solidFill>
                          <a:schemeClr val="bg2"/>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txBody>
                  <a:tcPr marL="61277" marR="61277" marT="61277" marB="61277" anchor="ctr" anchorCtr="0">
                    <a:lnL w="19050" cap="flat" cmpd="sng">
                      <a:solidFill>
                        <a:schemeClr val="accent2"/>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9050" cap="flat" cmpd="sng">
                      <a:solidFill>
                        <a:schemeClr val="accent2"/>
                      </a:solidFill>
                      <a:prstDash val="solid"/>
                      <a:headEnd type="none" w="med" len="med"/>
                      <a:tailEnd type="none" w="med" len="med"/>
                    </a:lnB>
                    <a:noFill/>
                  </a:tcPr>
                </a:tc>
              </a:tr>
            </a:tbl>
          </a:graphicData>
        </a:graphic>
      </p:graphicFrame>
      <p:sp>
        <p:nvSpPr>
          <p:cNvPr id="8" name="十字星 7"/>
          <p:cNvSpPr/>
          <p:nvPr/>
        </p:nvSpPr>
        <p:spPr>
          <a:xfrm>
            <a:off x="419735" y="2076450"/>
            <a:ext cx="297815" cy="297180"/>
          </a:xfrm>
          <a:prstGeom prst="star4">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五角星 11"/>
          <p:cNvSpPr/>
          <p:nvPr/>
        </p:nvSpPr>
        <p:spPr>
          <a:xfrm>
            <a:off x="475615" y="6221095"/>
            <a:ext cx="306705" cy="259715"/>
          </a:xfrm>
          <a:prstGeom prst="star5">
            <a:avLst/>
          </a:prstGeom>
          <a:solidFill>
            <a:srgbClr val="FFFF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429260" y="12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微软雅黑" panose="020B0503020204020204" charset="-122"/>
                <a:ea typeface="微软雅黑" panose="020B0503020204020204" charset="-122"/>
                <a:cs typeface="Poppins"/>
                <a:sym typeface="Poppins"/>
              </a:rPr>
              <a:t>Comparison</a:t>
            </a:r>
            <a:r>
              <a:rPr lang="zh-CN" altLang="en-US" sz="3200" b="1" i="0" u="none" strike="noStrike">
                <a:solidFill>
                  <a:srgbClr val="1F2937"/>
                </a:solidFill>
                <a:latin typeface="微软雅黑" panose="020B0503020204020204" charset="-122"/>
                <a:ea typeface="微软雅黑" panose="020B0503020204020204" charset="-122"/>
                <a:cs typeface="Poppins"/>
                <a:sym typeface="Poppins"/>
              </a:rPr>
              <a:t>：</a:t>
            </a:r>
            <a:r>
              <a:rPr lang="en-US" altLang="zh-CN" sz="3200" b="1" i="0" u="none" strike="noStrike">
                <a:solidFill>
                  <a:srgbClr val="1F2937"/>
                </a:solidFill>
                <a:latin typeface="微软雅黑" panose="020B0503020204020204" charset="-122"/>
                <a:ea typeface="微软雅黑" panose="020B0503020204020204" charset="-122"/>
                <a:cs typeface="Poppins"/>
                <a:sym typeface="Poppins"/>
              </a:rPr>
              <a:t>Critical Evaluation</a:t>
            </a:r>
            <a:endParaRPr lang="en-US" sz="1100">
              <a:latin typeface="微软雅黑" panose="020B0503020204020204" charset="-122"/>
              <a:ea typeface="微软雅黑" panose="020B0503020204020204" charset="-122"/>
            </a:endParaRPr>
          </a:p>
        </p:txBody>
      </p:sp>
      <p:sp>
        <p:nvSpPr>
          <p:cNvPr id="4" name="AutoShape 4"/>
          <p:cNvSpPr/>
          <p:nvPr>
            <p:custDataLst>
              <p:tags r:id="rId2"/>
            </p:custDataLst>
          </p:nvPr>
        </p:nvSpPr>
        <p:spPr>
          <a:xfrm>
            <a:off x="194945" y="801370"/>
            <a:ext cx="5141595" cy="5626735"/>
          </a:xfrm>
          <a:prstGeom prst="roundRect">
            <a:avLst>
              <a:gd name="adj" fmla="val 6153"/>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9" name="文本框 18"/>
          <p:cNvSpPr txBox="1"/>
          <p:nvPr>
            <p:custDataLst>
              <p:tags r:id="rId3"/>
            </p:custDataLst>
          </p:nvPr>
        </p:nvSpPr>
        <p:spPr>
          <a:xfrm>
            <a:off x="958850" y="927735"/>
            <a:ext cx="2332355" cy="398780"/>
          </a:xfrm>
          <a:prstGeom prst="rect">
            <a:avLst/>
          </a:prstGeom>
          <a:noFill/>
        </p:spPr>
        <p:txBody>
          <a:bodyPr wrap="square" rtlCol="0">
            <a:spAutoFit/>
          </a:bodyPr>
          <a:p>
            <a:r>
              <a:rPr lang="en-US" altLang="zh-CN" sz="2000" b="1"/>
              <a:t>Segmentation</a:t>
            </a:r>
            <a:endParaRPr lang="zh-CN" altLang="en-US" sz="2000" b="1"/>
          </a:p>
        </p:txBody>
      </p:sp>
      <p:sp>
        <p:nvSpPr>
          <p:cNvPr id="21" name="文本框 20"/>
          <p:cNvSpPr txBox="1"/>
          <p:nvPr>
            <p:custDataLst>
              <p:tags r:id="rId4"/>
            </p:custDataLst>
          </p:nvPr>
        </p:nvSpPr>
        <p:spPr>
          <a:xfrm>
            <a:off x="178435" y="5791200"/>
            <a:ext cx="3112770" cy="829945"/>
          </a:xfrm>
          <a:prstGeom prst="rect">
            <a:avLst/>
          </a:prstGeom>
          <a:noFill/>
        </p:spPr>
        <p:txBody>
          <a:bodyPr wrap="square" rtlCol="0">
            <a:spAutoFit/>
          </a:bodyPr>
          <a:p>
            <a:pPr marL="285750" indent="-285750">
              <a:buFont typeface="Arial" panose="020B0604020202020204" pitchFamily="34" charset="0"/>
              <a:buChar char="•"/>
            </a:pPr>
            <a:r>
              <a:rPr lang="en-US" altLang="zh-CN" sz="1600" b="1">
                <a:solidFill>
                  <a:srgbClr val="FF0000"/>
                </a:solidFill>
                <a:latin typeface="Arial" panose="020B0604020202020204" pitchFamily="34" charset="0"/>
                <a:cs typeface="Arial" panose="020B0604020202020204" pitchFamily="34" charset="0"/>
              </a:rPr>
              <a:t>U-Net</a:t>
            </a:r>
            <a:endParaRPr lang="en-US" altLang="zh-CN" sz="1600" b="1">
              <a:solidFill>
                <a:srgbClr val="FF000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b="1">
                <a:solidFill>
                  <a:srgbClr val="FF0000"/>
                </a:solidFill>
                <a:latin typeface="Arial" panose="020B0604020202020204" pitchFamily="34" charset="0"/>
                <a:cs typeface="Arial" panose="020B0604020202020204" pitchFamily="34" charset="0"/>
              </a:rPr>
              <a:t>Transformer-based</a:t>
            </a:r>
            <a:endParaRPr lang="en-US" altLang="zh-CN" sz="1600" b="1">
              <a:solidFill>
                <a:srgbClr val="FF0000"/>
              </a:solidFill>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altLang="zh-CN" sz="1600" b="1">
              <a:solidFill>
                <a:srgbClr val="FF0000"/>
              </a:solidFill>
              <a:latin typeface="Arial" panose="020B0604020202020204" pitchFamily="34" charset="0"/>
              <a:cs typeface="Arial" panose="020B0604020202020204" pitchFamily="34" charset="0"/>
            </a:endParaRPr>
          </a:p>
        </p:txBody>
      </p:sp>
      <p:grpSp>
        <p:nvGrpSpPr>
          <p:cNvPr id="5" name="组合 4"/>
          <p:cNvGrpSpPr/>
          <p:nvPr>
            <p:custDataLst>
              <p:tags r:id="rId5"/>
            </p:custDataLst>
          </p:nvPr>
        </p:nvGrpSpPr>
        <p:grpSpPr>
          <a:xfrm>
            <a:off x="6309360" y="802005"/>
            <a:ext cx="5184983" cy="5625541"/>
            <a:chOff x="6420" y="2093"/>
            <a:chExt cx="6149" cy="7907"/>
          </a:xfrm>
        </p:grpSpPr>
        <p:sp>
          <p:nvSpPr>
            <p:cNvPr id="9" name="AutoShape 9"/>
            <p:cNvSpPr/>
            <p:nvPr>
              <p:custDataLst>
                <p:tags r:id="rId6"/>
              </p:custDataLst>
            </p:nvPr>
          </p:nvSpPr>
          <p:spPr>
            <a:xfrm>
              <a:off x="6420" y="2093"/>
              <a:ext cx="6149" cy="7907"/>
            </a:xfrm>
            <a:prstGeom prst="roundRect">
              <a:avLst>
                <a:gd name="adj" fmla="val 6153"/>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2" name="文本框 21"/>
            <p:cNvSpPr txBox="1"/>
            <p:nvPr>
              <p:custDataLst>
                <p:tags r:id="rId7"/>
              </p:custDataLst>
            </p:nvPr>
          </p:nvSpPr>
          <p:spPr>
            <a:xfrm>
              <a:off x="7402" y="2202"/>
              <a:ext cx="3673" cy="561"/>
            </a:xfrm>
            <a:prstGeom prst="rect">
              <a:avLst/>
            </a:prstGeom>
            <a:noFill/>
          </p:spPr>
          <p:txBody>
            <a:bodyPr wrap="square" rtlCol="0">
              <a:spAutoFit/>
            </a:bodyPr>
            <a:p>
              <a:r>
                <a:rPr lang="en-US" altLang="zh-CN" sz="2000" b="1"/>
                <a:t>Enhancement</a:t>
              </a:r>
              <a:endParaRPr lang="zh-CN" altLang="en-US" sz="2000" b="1"/>
            </a:p>
          </p:txBody>
        </p:sp>
        <p:pic>
          <p:nvPicPr>
            <p:cNvPr id="24" name="图片 23"/>
            <p:cNvPicPr>
              <a:picLocks noChangeAspect="1"/>
            </p:cNvPicPr>
            <p:nvPr>
              <p:custDataLst>
                <p:tags r:id="rId8"/>
              </p:custDataLst>
            </p:nvPr>
          </p:nvPicPr>
          <p:blipFill>
            <a:blip r:embed="rId9"/>
            <a:stretch>
              <a:fillRect/>
            </a:stretch>
          </p:blipFill>
          <p:spPr>
            <a:xfrm>
              <a:off x="6420" y="2830"/>
              <a:ext cx="5666" cy="6390"/>
            </a:xfrm>
            <a:prstGeom prst="rect">
              <a:avLst/>
            </a:prstGeom>
          </p:spPr>
        </p:pic>
      </p:grpSp>
      <p:pic>
        <p:nvPicPr>
          <p:cNvPr id="6" name="图片 5"/>
          <p:cNvPicPr>
            <a:picLocks noChangeAspect="1"/>
          </p:cNvPicPr>
          <p:nvPr/>
        </p:nvPicPr>
        <p:blipFill>
          <a:blip r:embed="rId10"/>
          <a:stretch>
            <a:fillRect/>
          </a:stretch>
        </p:blipFill>
        <p:spPr>
          <a:xfrm>
            <a:off x="354330" y="1322705"/>
            <a:ext cx="4152265" cy="3311525"/>
          </a:xfrm>
          <a:prstGeom prst="rect">
            <a:avLst/>
          </a:prstGeom>
        </p:spPr>
      </p:pic>
      <p:pic>
        <p:nvPicPr>
          <p:cNvPr id="7" name="图片 6"/>
          <p:cNvPicPr>
            <a:picLocks noChangeAspect="1"/>
          </p:cNvPicPr>
          <p:nvPr/>
        </p:nvPicPr>
        <p:blipFill>
          <a:blip r:embed="rId11"/>
          <a:stretch>
            <a:fillRect/>
          </a:stretch>
        </p:blipFill>
        <p:spPr>
          <a:xfrm>
            <a:off x="477520" y="4634230"/>
            <a:ext cx="3964305" cy="11068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200" b="1" i="0" u="none" strike="noStrike">
                <a:solidFill>
                  <a:srgbClr val="1F2937"/>
                </a:solidFill>
                <a:latin typeface="微软雅黑" panose="020B0503020204020204" charset="-122"/>
                <a:ea typeface="微软雅黑" panose="020B0503020204020204" charset="-122"/>
                <a:cs typeface="Poppins"/>
                <a:sym typeface="Poppins"/>
              </a:rPr>
              <a:t>Model Readiness Assessment</a:t>
            </a:r>
            <a:r>
              <a:rPr lang="en-US" sz="3200" b="1" i="0" u="none" strike="noStrike">
                <a:solidFill>
                  <a:srgbClr val="1F2937"/>
                </a:solidFill>
                <a:latin typeface="微软雅黑" panose="020B0503020204020204" charset="-122"/>
                <a:ea typeface="微软雅黑" panose="020B0503020204020204" charset="-122"/>
                <a:cs typeface="Poppins"/>
                <a:sym typeface="Poppins"/>
              </a:rPr>
              <a:t>: </a:t>
            </a:r>
            <a:r>
              <a:rPr lang="en-US" altLang="zh-CN" sz="3200" b="1" i="0" u="none" strike="noStrike">
                <a:solidFill>
                  <a:srgbClr val="1F2937"/>
                </a:solidFill>
                <a:latin typeface="微软雅黑" panose="020B0503020204020204" charset="-122"/>
                <a:ea typeface="微软雅黑" panose="020B0503020204020204" charset="-122"/>
                <a:cs typeface="Poppins"/>
                <a:sym typeface="Poppins"/>
              </a:rPr>
              <a:t>Evaluation Metrics</a:t>
            </a:r>
            <a:endParaRPr lang="en-US" sz="3200" b="1" i="0" u="none" strike="noStrike">
              <a:solidFill>
                <a:srgbClr val="1F2937"/>
              </a:solidFill>
              <a:latin typeface="微软雅黑" panose="020B0503020204020204" charset="-122"/>
              <a:ea typeface="微软雅黑" panose="020B0503020204020204" charset="-122"/>
              <a:cs typeface="Poppins"/>
              <a:sym typeface="Poppins"/>
            </a:endParaRPr>
          </a:p>
        </p:txBody>
      </p:sp>
      <p:sp>
        <p:nvSpPr>
          <p:cNvPr id="4" name="文本框 3"/>
          <p:cNvSpPr txBox="1"/>
          <p:nvPr/>
        </p:nvSpPr>
        <p:spPr>
          <a:xfrm>
            <a:off x="577850" y="1510030"/>
            <a:ext cx="11614785" cy="4920615"/>
          </a:xfrm>
          <a:prstGeom prst="rect">
            <a:avLst/>
          </a:prstGeom>
          <a:noFill/>
        </p:spPr>
        <p:txBody>
          <a:bodyPr wrap="square" rtlCol="0">
            <a:noAutofit/>
          </a:bodyPr>
          <a:p>
            <a:pPr marL="285750" indent="-285750">
              <a:buFont typeface="Arial" panose="020B0604020202020204" pitchFamily="34" charset="0"/>
              <a:buChar char="•"/>
            </a:pPr>
            <a:r>
              <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rPr>
              <a:t>Regulatory Frameworks: </a:t>
            </a: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0" indent="0">
              <a:buFont typeface="Arial" panose="020B0604020202020204" pitchFamily="34" charset="0"/>
              <a:buNone/>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r>
              <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rPr>
              <a:t>Interpretability and Explainability: </a:t>
            </a: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0" indent="0">
              <a:buFont typeface="Arial" panose="020B0604020202020204" pitchFamily="34" charset="0"/>
              <a:buNone/>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0" indent="0">
              <a:buFont typeface="Arial" panose="020B0604020202020204" pitchFamily="34" charset="0"/>
              <a:buNone/>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r>
              <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rPr>
              <a:t>Transparency, Documentation, and Reproducibility</a:t>
            </a: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r>
              <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rPr>
              <a:t>Clinical Validation and Human-in-the-Loop Evaluation</a:t>
            </a: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a:p>
            <a:pPr marL="285750" indent="-285750">
              <a:buFont typeface="Arial" panose="020B0604020202020204" pitchFamily="34" charset="0"/>
              <a:buChar char="•"/>
            </a:pPr>
            <a:r>
              <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rPr>
              <a:t>Ethical and Societal Implications</a:t>
            </a:r>
            <a:endParaRPr lang="en-US" altLang="zh-CN" sz="2400" b="1" i="1">
              <a:solidFill>
                <a:srgbClr val="FF0000"/>
              </a:solidFill>
              <a:effectLst>
                <a:outerShdw blurRad="38100" dist="38100" dir="2700000" algn="tl">
                  <a:srgbClr val="000000">
                    <a:alpha val="43137"/>
                  </a:srgbClr>
                </a:outerShdw>
              </a:effectLst>
              <a:latin typeface="Arial Black" panose="020B0A04020102020204" charset="0"/>
              <a:cs typeface="Arial Black" panose="020B0A040201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3200" b="1" i="0" u="none" strike="noStrike">
                <a:solidFill>
                  <a:srgbClr val="1F2937"/>
                </a:solidFill>
                <a:latin typeface="微软雅黑" panose="020B0503020204020204" charset="-122"/>
                <a:ea typeface="微软雅黑" panose="020B0503020204020204" charset="-122"/>
                <a:cs typeface="Poppins"/>
                <a:sym typeface="Poppins"/>
              </a:rPr>
              <a:t>Model Readiness Assessment</a:t>
            </a:r>
            <a:r>
              <a:rPr lang="en-US" sz="3200" b="1" i="0" u="none" strike="noStrike">
                <a:solidFill>
                  <a:srgbClr val="1F2937"/>
                </a:solidFill>
                <a:latin typeface="微软雅黑" panose="020B0503020204020204" charset="-122"/>
                <a:ea typeface="微软雅黑" panose="020B0503020204020204" charset="-122"/>
                <a:cs typeface="Poppins"/>
                <a:sym typeface="Poppins"/>
              </a:rPr>
              <a:t>: </a:t>
            </a:r>
            <a:r>
              <a:rPr lang="en-US" altLang="zh-CN" sz="3200" b="1" i="0" u="none" strike="noStrike">
                <a:solidFill>
                  <a:srgbClr val="1F2937"/>
                </a:solidFill>
                <a:latin typeface="微软雅黑" panose="020B0503020204020204" charset="-122"/>
                <a:ea typeface="微软雅黑" panose="020B0503020204020204" charset="-122"/>
                <a:cs typeface="Poppins"/>
                <a:sym typeface="Poppins"/>
              </a:rPr>
              <a:t>Maturity Mapping</a:t>
            </a:r>
            <a:endParaRPr lang="en-US" sz="3200" b="1" i="0" u="none" strike="noStrike">
              <a:solidFill>
                <a:srgbClr val="1F2937"/>
              </a:solidFill>
              <a:latin typeface="微软雅黑" panose="020B0503020204020204" charset="-122"/>
              <a:ea typeface="微软雅黑" panose="020B0503020204020204" charset="-122"/>
              <a:cs typeface="Poppins"/>
              <a:sym typeface="Poppins"/>
            </a:endParaRPr>
          </a:p>
        </p:txBody>
      </p:sp>
      <p:pic>
        <p:nvPicPr>
          <p:cNvPr id="5" name="图片 4"/>
          <p:cNvPicPr>
            <a:picLocks noChangeAspect="1"/>
          </p:cNvPicPr>
          <p:nvPr/>
        </p:nvPicPr>
        <p:blipFill>
          <a:blip r:embed="rId2"/>
          <a:stretch>
            <a:fillRect/>
          </a:stretch>
        </p:blipFill>
        <p:spPr>
          <a:xfrm>
            <a:off x="343535" y="2052320"/>
            <a:ext cx="7372985" cy="3027045"/>
          </a:xfrm>
          <a:prstGeom prst="rect">
            <a:avLst/>
          </a:prstGeom>
        </p:spPr>
      </p:pic>
      <p:sp>
        <p:nvSpPr>
          <p:cNvPr id="6" name="文本框 5"/>
          <p:cNvSpPr txBox="1"/>
          <p:nvPr/>
        </p:nvSpPr>
        <p:spPr>
          <a:xfrm>
            <a:off x="7875270" y="2494915"/>
            <a:ext cx="3893820" cy="2584450"/>
          </a:xfrm>
          <a:prstGeom prst="rect">
            <a:avLst/>
          </a:prstGeom>
          <a:noFill/>
        </p:spPr>
        <p:txBody>
          <a:bodyPr wrap="square" rtlCol="0">
            <a:spAutoFit/>
          </a:bodyPr>
          <a:p>
            <a:r>
              <a:rPr lang="en-US" altLang="zh-CN" sz="1800" b="1" u="sng">
                <a:solidFill>
                  <a:srgbClr val="C00000"/>
                </a:solidFill>
              </a:rPr>
              <a:t>A Clinically Vetted Backbone</a:t>
            </a:r>
            <a:endParaRPr lang="en-US" altLang="zh-CN" sz="1800" b="1" u="sng">
              <a:solidFill>
                <a:srgbClr val="C00000"/>
              </a:solidFill>
            </a:endParaRPr>
          </a:p>
          <a:p>
            <a:endParaRPr lang="zh-CN" altLang="en-US" sz="1800" b="1" u="sng">
              <a:solidFill>
                <a:srgbClr val="C00000"/>
              </a:solidFill>
            </a:endParaRPr>
          </a:p>
          <a:p>
            <a:r>
              <a:rPr lang="en-US" altLang="zh-CN" sz="1800" b="1" u="sng">
                <a:solidFill>
                  <a:srgbClr val="C00000"/>
                </a:solidFill>
              </a:rPr>
              <a:t>Transformative but Unstable</a:t>
            </a:r>
            <a:endParaRPr lang="en-US" altLang="zh-CN" sz="1800" b="1" u="sng">
              <a:solidFill>
                <a:srgbClr val="C00000"/>
              </a:solidFill>
            </a:endParaRPr>
          </a:p>
          <a:p>
            <a:endParaRPr lang="en-US" altLang="zh-CN" sz="1800" b="1" u="sng">
              <a:solidFill>
                <a:srgbClr val="C00000"/>
              </a:solidFill>
            </a:endParaRPr>
          </a:p>
          <a:p>
            <a:r>
              <a:rPr lang="en-US" altLang="zh-CN" sz="1800" b="1" u="sng">
                <a:solidFill>
                  <a:srgbClr val="C00000"/>
                </a:solidFill>
              </a:rPr>
              <a:t>Promising but Immature</a:t>
            </a:r>
            <a:endParaRPr lang="en-US" altLang="zh-CN" sz="1800" b="1" u="sng">
              <a:solidFill>
                <a:srgbClr val="C00000"/>
              </a:solidFill>
            </a:endParaRPr>
          </a:p>
          <a:p>
            <a:endParaRPr lang="en-US" altLang="zh-CN" sz="1800" b="1" u="sng">
              <a:solidFill>
                <a:srgbClr val="C00000"/>
              </a:solidFill>
            </a:endParaRPr>
          </a:p>
          <a:p>
            <a:r>
              <a:rPr lang="en-US" altLang="zh-CN" sz="1800" b="1" u="sng">
                <a:solidFill>
                  <a:srgbClr val="C00000"/>
                </a:solidFill>
              </a:rPr>
              <a:t>Representation Bottlenecks</a:t>
            </a:r>
            <a:endParaRPr lang="en-US" altLang="zh-CN" sz="1800" b="1" u="sng">
              <a:solidFill>
                <a:srgbClr val="C00000"/>
              </a:solidFill>
            </a:endParaRPr>
          </a:p>
          <a:p>
            <a:endParaRPr lang="en-US" altLang="zh-CN" sz="1800" b="1" u="sng">
              <a:solidFill>
                <a:srgbClr val="C00000"/>
              </a:solidFill>
            </a:endParaRPr>
          </a:p>
          <a:p>
            <a:r>
              <a:rPr lang="en-US" altLang="zh-CN" sz="1800" b="1" u="sng">
                <a:solidFill>
                  <a:srgbClr val="C00000"/>
                </a:solidFill>
              </a:rPr>
              <a:t>Practical in Clinical Subtasks</a:t>
            </a:r>
            <a:endParaRPr lang="en-US" altLang="zh-CN" sz="1800" b="1" u="sng">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微软雅黑" panose="020B0503020204020204" charset="-122"/>
                <a:ea typeface="微软雅黑" panose="020B0503020204020204" charset="-122"/>
                <a:cs typeface="Poppins"/>
                <a:sym typeface="Poppins"/>
              </a:rPr>
              <a:t>Challenges in Deep Learning for Medical Imaging</a:t>
            </a:r>
            <a:endParaRPr lang="en-US" sz="1100">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2"/>
          <a:srcRect l="25000" r="25000"/>
          <a:stretch>
            <a:fillRect/>
          </a:stretch>
        </p:blipFill>
        <p:spPr>
          <a:xfrm>
            <a:off x="723265" y="1524000"/>
            <a:ext cx="3213735" cy="3615690"/>
          </a:xfrm>
          <a:prstGeom prst="roundRect">
            <a:avLst>
              <a:gd name="adj" fmla="val 5000"/>
            </a:avLst>
          </a:prstGeom>
          <a:noFill/>
          <a:ln w="25400" cap="flat" cmpd="sng">
            <a:noFill/>
            <a:prstDash val="solid"/>
            <a:round/>
          </a:ln>
          <a:effectLst>
            <a:outerShdw blurRad="254000" dist="76200" dir="2700000" algn="tl" rotWithShape="0">
              <a:srgbClr val="000000">
                <a:alpha val="15000"/>
              </a:srgbClr>
            </a:outerShdw>
          </a:effectLst>
        </p:spPr>
      </p:pic>
      <p:sp>
        <p:nvSpPr>
          <p:cNvPr id="5" name="AutoShape 5"/>
          <p:cNvSpPr/>
          <p:nvPr>
            <p:custDataLst>
              <p:tags r:id="rId3"/>
            </p:custDataLst>
          </p:nvPr>
        </p:nvSpPr>
        <p:spPr>
          <a:xfrm>
            <a:off x="4410710" y="1598295"/>
            <a:ext cx="3175000" cy="2159000"/>
          </a:xfrm>
          <a:prstGeom prst="roundRect">
            <a:avLst>
              <a:gd name="adj" fmla="val 7058"/>
            </a:avLst>
          </a:prstGeom>
          <a:solidFill>
            <a:srgbClr val="FFFFFF">
              <a:alpha val="95000"/>
            </a:srgbClr>
          </a:solidFill>
          <a:ln w="25400" cap="flat" cmpd="sng">
            <a:noFill/>
            <a:prstDash val="solid"/>
            <a:round/>
          </a:ln>
          <a:effectLst>
            <a:outerShdw blurRad="152400" dist="50800" dir="2700000" algn="tl" rotWithShape="0">
              <a:srgbClr val="14B8A6">
                <a:alpha val="18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64710" y="1852295"/>
            <a:ext cx="457200" cy="457200"/>
          </a:xfrm>
          <a:prstGeom prst="rect">
            <a:avLst/>
          </a:prstGeom>
        </p:spPr>
      </p:pic>
      <p:sp>
        <p:nvSpPr>
          <p:cNvPr id="7" name="AutoShape 7"/>
          <p:cNvSpPr/>
          <p:nvPr>
            <p:custDataLst>
              <p:tags r:id="rId7"/>
            </p:custDataLst>
          </p:nvPr>
        </p:nvSpPr>
        <p:spPr>
          <a:xfrm>
            <a:off x="5299710" y="1852295"/>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Scarcity &amp; Quality</a:t>
            </a:r>
            <a:endParaRPr lang="en-US" sz="1100"/>
          </a:p>
        </p:txBody>
      </p:sp>
      <p:sp>
        <p:nvSpPr>
          <p:cNvPr id="8" name="AutoShape 8"/>
          <p:cNvSpPr/>
          <p:nvPr>
            <p:custDataLst>
              <p:tags r:id="rId8"/>
            </p:custDataLst>
          </p:nvPr>
        </p:nvSpPr>
        <p:spPr>
          <a:xfrm>
            <a:off x="4664710" y="2487295"/>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Datasets are small due to privacy and rarity. Manual labeling is costly and requires specialized medical expertise.</a:t>
            </a:r>
            <a:endParaRPr lang="en-US" sz="1100"/>
          </a:p>
        </p:txBody>
      </p:sp>
      <p:sp>
        <p:nvSpPr>
          <p:cNvPr id="9" name="AutoShape 9"/>
          <p:cNvSpPr/>
          <p:nvPr>
            <p:custDataLst>
              <p:tags r:id="rId9"/>
            </p:custDataLst>
          </p:nvPr>
        </p:nvSpPr>
        <p:spPr>
          <a:xfrm>
            <a:off x="7839710" y="1598295"/>
            <a:ext cx="3175000" cy="2159000"/>
          </a:xfrm>
          <a:prstGeom prst="roundRect">
            <a:avLst>
              <a:gd name="adj" fmla="val 7058"/>
            </a:avLst>
          </a:prstGeom>
          <a:solidFill>
            <a:srgbClr val="FFFFFF">
              <a:alpha val="95000"/>
            </a:srgbClr>
          </a:solidFill>
          <a:ln w="25400" cap="flat" cmpd="sng">
            <a:noFill/>
            <a:prstDash val="solid"/>
            <a:round/>
          </a:ln>
          <a:effectLst>
            <a:outerShdw blurRad="152400" dist="50800" dir="2700000" algn="tl" rotWithShape="0">
              <a:srgbClr val="14B8A6">
                <a:alpha val="18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93710" y="1852295"/>
            <a:ext cx="457200" cy="457200"/>
          </a:xfrm>
          <a:prstGeom prst="rect">
            <a:avLst/>
          </a:prstGeom>
        </p:spPr>
      </p:pic>
      <p:sp>
        <p:nvSpPr>
          <p:cNvPr id="11" name="AutoShape 11"/>
          <p:cNvSpPr/>
          <p:nvPr>
            <p:custDataLst>
              <p:tags r:id="rId13"/>
            </p:custDataLst>
          </p:nvPr>
        </p:nvSpPr>
        <p:spPr>
          <a:xfrm>
            <a:off x="8728710" y="1852295"/>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The " Black Box" Problem</a:t>
            </a:r>
            <a:endParaRPr lang="en-US" sz="1100"/>
          </a:p>
        </p:txBody>
      </p:sp>
      <p:sp>
        <p:nvSpPr>
          <p:cNvPr id="12" name="AutoShape 12"/>
          <p:cNvSpPr/>
          <p:nvPr>
            <p:custDataLst>
              <p:tags r:id="rId14"/>
            </p:custDataLst>
          </p:nvPr>
        </p:nvSpPr>
        <p:spPr>
          <a:xfrm>
            <a:off x="8093710" y="2487295"/>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Clinicians need explainability to trust AI. Techniques like Grad-CAM help visualize the model's diagnostic logic.</a:t>
            </a:r>
            <a:endParaRPr lang="en-US" sz="1100"/>
          </a:p>
        </p:txBody>
      </p:sp>
      <p:sp>
        <p:nvSpPr>
          <p:cNvPr id="13" name="AutoShape 13"/>
          <p:cNvSpPr/>
          <p:nvPr>
            <p:custDataLst>
              <p:tags r:id="rId15"/>
            </p:custDataLst>
          </p:nvPr>
        </p:nvSpPr>
        <p:spPr>
          <a:xfrm>
            <a:off x="4410710" y="4011295"/>
            <a:ext cx="3175000" cy="2159000"/>
          </a:xfrm>
          <a:prstGeom prst="roundRect">
            <a:avLst>
              <a:gd name="adj" fmla="val 7058"/>
            </a:avLst>
          </a:prstGeom>
          <a:solidFill>
            <a:srgbClr val="FFFFFF">
              <a:alpha val="95000"/>
            </a:srgbClr>
          </a:solidFill>
          <a:ln w="25400" cap="flat" cmpd="sng">
            <a:noFill/>
            <a:prstDash val="solid"/>
            <a:round/>
          </a:ln>
          <a:effectLst>
            <a:outerShdw blurRad="152400" dist="50800" dir="2700000" algn="tl" rotWithShape="0">
              <a:srgbClr val="14B8A6">
                <a:alpha val="18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664710" y="4265295"/>
            <a:ext cx="457200" cy="457200"/>
          </a:xfrm>
          <a:prstGeom prst="rect">
            <a:avLst/>
          </a:prstGeom>
        </p:spPr>
      </p:pic>
      <p:sp>
        <p:nvSpPr>
          <p:cNvPr id="15" name="AutoShape 15"/>
          <p:cNvSpPr/>
          <p:nvPr>
            <p:custDataLst>
              <p:tags r:id="rId19"/>
            </p:custDataLst>
          </p:nvPr>
        </p:nvSpPr>
        <p:spPr>
          <a:xfrm>
            <a:off x="5299710" y="4265295"/>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Generalization &amp; Robustness</a:t>
            </a:r>
            <a:endParaRPr lang="en-US" sz="1100"/>
          </a:p>
        </p:txBody>
      </p:sp>
      <p:sp>
        <p:nvSpPr>
          <p:cNvPr id="16" name="AutoShape 16"/>
          <p:cNvSpPr/>
          <p:nvPr>
            <p:custDataLst>
              <p:tags r:id="rId20"/>
            </p:custDataLst>
          </p:nvPr>
        </p:nvSpPr>
        <p:spPr>
          <a:xfrm>
            <a:off x="4664710" y="4900295"/>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Models fail on data from different scanners (domain shift). They are also vulnerable to adversarial attacks.</a:t>
            </a:r>
            <a:endParaRPr lang="en-US" sz="1100"/>
          </a:p>
        </p:txBody>
      </p:sp>
      <p:sp>
        <p:nvSpPr>
          <p:cNvPr id="17" name="AutoShape 17"/>
          <p:cNvSpPr/>
          <p:nvPr>
            <p:custDataLst>
              <p:tags r:id="rId21"/>
            </p:custDataLst>
          </p:nvPr>
        </p:nvSpPr>
        <p:spPr>
          <a:xfrm>
            <a:off x="7839710" y="4011295"/>
            <a:ext cx="3175000" cy="2159000"/>
          </a:xfrm>
          <a:prstGeom prst="roundRect">
            <a:avLst>
              <a:gd name="adj" fmla="val 7058"/>
            </a:avLst>
          </a:prstGeom>
          <a:solidFill>
            <a:srgbClr val="FFFFFF">
              <a:alpha val="95000"/>
            </a:srgbClr>
          </a:solidFill>
          <a:ln w="25400" cap="flat" cmpd="sng">
            <a:noFill/>
            <a:prstDash val="solid"/>
            <a:round/>
          </a:ln>
          <a:effectLst>
            <a:outerShdw blurRad="152400" dist="50800" dir="2700000" algn="tl" rotWithShape="0">
              <a:srgbClr val="14B8A6">
                <a:alpha val="18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093710" y="4265295"/>
            <a:ext cx="457200" cy="457200"/>
          </a:xfrm>
          <a:prstGeom prst="rect">
            <a:avLst/>
          </a:prstGeom>
        </p:spPr>
      </p:pic>
      <p:sp>
        <p:nvSpPr>
          <p:cNvPr id="19" name="AutoShape 19"/>
          <p:cNvSpPr/>
          <p:nvPr>
            <p:custDataLst>
              <p:tags r:id="rId25"/>
            </p:custDataLst>
          </p:nvPr>
        </p:nvSpPr>
        <p:spPr>
          <a:xfrm>
            <a:off x="8728710" y="4265295"/>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Computational &amp; Regulation</a:t>
            </a:r>
            <a:endParaRPr lang="en-US" sz="1100"/>
          </a:p>
        </p:txBody>
      </p:sp>
      <p:sp>
        <p:nvSpPr>
          <p:cNvPr id="20" name="AutoShape 20"/>
          <p:cNvSpPr/>
          <p:nvPr>
            <p:custDataLst>
              <p:tags r:id="rId26"/>
            </p:custDataLst>
          </p:nvPr>
        </p:nvSpPr>
        <p:spPr>
          <a:xfrm>
            <a:off x="8093710" y="4900295"/>
            <a:ext cx="2667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Complex models demand expensive GPU resources. Integrating AI into clinics involves lengthy regulatory approval.</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3069590"/>
            <a:ext cx="1066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F2937"/>
                </a:solidFill>
                <a:latin typeface="微软雅黑" panose="020B0503020204020204" charset="-122"/>
                <a:ea typeface="微软雅黑" panose="020B0503020204020204" charset="-122"/>
                <a:cs typeface="Poppins"/>
                <a:sym typeface="Poppins"/>
              </a:rPr>
              <a:t>Thanks for Listening</a:t>
            </a:r>
            <a:r>
              <a:rPr lang="zh-CN" altLang="en-US" sz="3200" b="1" i="0" u="none" strike="noStrike">
                <a:solidFill>
                  <a:srgbClr val="1F2937"/>
                </a:solidFill>
                <a:latin typeface="微软雅黑" panose="020B0503020204020204" charset="-122"/>
                <a:ea typeface="微软雅黑" panose="020B0503020204020204" charset="-122"/>
                <a:cs typeface="Poppins"/>
                <a:sym typeface="Poppins"/>
              </a:rPr>
              <a:t>！</a:t>
            </a:r>
            <a:endParaRPr lang="zh-CN" altLang="en-US" sz="3200" b="1" i="0" u="none" strike="noStrike">
              <a:solidFill>
                <a:srgbClr val="1F2937"/>
              </a:solidFill>
              <a:latin typeface="微软雅黑" panose="020B0503020204020204" charset="-122"/>
              <a:ea typeface="微软雅黑" panose="020B0503020204020204" charset="-122"/>
              <a:cs typeface="Poppins"/>
              <a:sym typeface="Poppins"/>
            </a:endParaRPr>
          </a:p>
        </p:txBody>
      </p:sp>
    </p:spTree>
  </p:cSld>
  <p:clrMapOvr>
    <a:masterClrMapping/>
  </p:clrMapOvr>
</p:sld>
</file>

<file path=ppt/tags/tag1.xml><?xml version="1.0" encoding="utf-8"?>
<p:tagLst xmlns:p="http://schemas.openxmlformats.org/presentationml/2006/main">
  <p:tag name="KSO_WM_DIAGRAM_VIRTUALLY_FRAME" val="{&quot;height&quot;:287.55,&quot;left&quot;:12.4,&quot;top&quot;:125.15,&quot;width&quot;:769.35}"/>
</p:tagLst>
</file>

<file path=ppt/tags/tag2.xml><?xml version="1.0" encoding="utf-8"?>
<p:tagLst xmlns:p="http://schemas.openxmlformats.org/presentationml/2006/main">
  <p:tag name="KSO_WM_DIAGRAM_VIRTUALLY_FRAME" val="{&quot;height&quot;:287.55,&quot;left&quot;:12.4,&quot;top&quot;:125.15,&quot;width&quot;:769.35}"/>
</p:tagLst>
</file>

<file path=ppt/tags/tag3.xml><?xml version="1.0" encoding="utf-8"?>
<p:tagLst xmlns:p="http://schemas.openxmlformats.org/presentationml/2006/main">
  <p:tag name="KSO_WM_DIAGRAM_VIRTUALLY_FRAME" val="{&quot;height&quot;:287.55,&quot;left&quot;:12.4,&quot;top&quot;:125.15,&quot;width&quot;:769.35}"/>
</p:tagLst>
</file>

<file path=ppt/tags/tag4.xml><?xml version="1.0" encoding="utf-8"?>
<p:tagLst xmlns:p="http://schemas.openxmlformats.org/presentationml/2006/main">
  <p:tag name="KSO_WM_DIAGRAM_VIRTUALLY_FRAME" val="{&quot;height&quot;:287.55,&quot;left&quot;:12.4,&quot;top&quot;:125.15,&quot;width&quot;:769.35}"/>
</p:tagLst>
</file>

<file path=ppt/tags/tag5.xml><?xml version="1.0" encoding="utf-8"?>
<p:tagLst xmlns:p="http://schemas.openxmlformats.org/presentationml/2006/main">
  <p:tag name="KSO_WM_DIAGRAM_VIRTUALLY_FRAME" val="{&quot;height&quot;:287.55,&quot;left&quot;:12.4,&quot;top&quot;:125.15,&quot;width&quot;:769.35}"/>
</p:tagLst>
</file>

<file path=ppt/tags/tag6.xml><?xml version="1.0" encoding="utf-8"?>
<p:tagLst xmlns:p="http://schemas.openxmlformats.org/presentationml/2006/main">
  <p:tag name="KSO_WM_DIAGRAM_VIRTUALLY_FRAME" val="{&quot;height&quot;:287.55,&quot;left&quot;:12.4,&quot;top&quot;:125.15,&quot;width&quot;:769.35}"/>
</p:tagLst>
</file>

<file path=ppt/tags/tag7.xml><?xml version="1.0" encoding="utf-8"?>
<p:tagLst xmlns:p="http://schemas.openxmlformats.org/presentationml/2006/main">
  <p:tag name="KSO_WM_DIAGRAM_VIRTUALLY_FRAME" val="{&quot;height&quot;:287.55,&quot;left&quot;:12.4,&quot;top&quot;:125.15,&quot;width&quot;:769.35}"/>
</p:tagLst>
</file>

<file path=ppt/tags/tag8.xml><?xml version="1.0" encoding="utf-8"?>
<p:tagLst xmlns:p="http://schemas.openxmlformats.org/presentationml/2006/main">
  <p:tag name="KSO_WM_DIAGRAM_VIRTUALLY_FRAME" val="{&quot;height&quot;:287.55,&quot;left&quot;:12.4,&quot;top&quot;:125.15,&quot;width&quot;:769.35}"/>
</p:tagLst>
</file>

<file path=ppt/tags/tag9.xml><?xml version="1.0" encoding="utf-8"?>
<p:tagLst xmlns:p="http://schemas.openxmlformats.org/presentationml/2006/main">
  <p:tag name="TABLE_ENDDRAG_ORIGIN_RECT" val="889*445"/>
  <p:tag name="TABLE_ENDDRAG_RECT" val="11*90*889*445"/>
</p:tagLst>
</file>

<file path=ppt/tags/tag10.xml><?xml version="1.0" encoding="utf-8"?>
<p:tagLst xmlns:p="http://schemas.openxmlformats.org/presentationml/2006/main">
  <p:tag name="KSO_WM_DIAGRAM_VIRTUALLY_FRAME" val="{&quot;height&quot;:464.3,&quot;left&quot;:14.05,&quot;top&quot;:57.05,&quot;width&quot;:891.0163955757969}"/>
</p:tagLst>
</file>

<file path=ppt/tags/tag11.xml><?xml version="1.0" encoding="utf-8"?>
<p:tagLst xmlns:p="http://schemas.openxmlformats.org/presentationml/2006/main">
  <p:tag name="KSO_WM_DIAGRAM_VIRTUALLY_FRAME" val="{&quot;height&quot;:464.3,&quot;left&quot;:14.05,&quot;top&quot;:57.05,&quot;width&quot;:891.0163955757969}"/>
</p:tagLst>
</file>

<file path=ppt/tags/tag12.xml><?xml version="1.0" encoding="utf-8"?>
<p:tagLst xmlns:p="http://schemas.openxmlformats.org/presentationml/2006/main">
  <p:tag name="KSO_WM_DIAGRAM_VIRTUALLY_FRAME" val="{&quot;height&quot;:464.3,&quot;left&quot;:14.05,&quot;top&quot;:57.05,&quot;width&quot;:891.0163955757969}"/>
</p:tagLst>
</file>

<file path=ppt/tags/tag13.xml><?xml version="1.0" encoding="utf-8"?>
<p:tagLst xmlns:p="http://schemas.openxmlformats.org/presentationml/2006/main">
  <p:tag name="KSO_WM_DIAGRAM_VIRTUALLY_FRAME" val="{&quot;height&quot;:464.3,&quot;left&quot;:14.05,&quot;top&quot;:57.05,&quot;width&quot;:891.0163955757969}"/>
</p:tagLst>
</file>

<file path=ppt/tags/tag14.xml><?xml version="1.0" encoding="utf-8"?>
<p:tagLst xmlns:p="http://schemas.openxmlformats.org/presentationml/2006/main">
  <p:tag name="KSO_WM_DIAGRAM_VIRTUALLY_FRAME" val="{&quot;height&quot;:464.3,&quot;left&quot;:14.05,&quot;top&quot;:57.05,&quot;width&quot;:891.0163955757969}"/>
</p:tagLst>
</file>

<file path=ppt/tags/tag15.xml><?xml version="1.0" encoding="utf-8"?>
<p:tagLst xmlns:p="http://schemas.openxmlformats.org/presentationml/2006/main">
  <p:tag name="KSO_WM_DIAGRAM_VIRTUALLY_FRAME" val="{&quot;height&quot;:464.3,&quot;left&quot;:14.05,&quot;top&quot;:57.05,&quot;width&quot;:891.0163955757969}"/>
</p:tagLst>
</file>

<file path=ppt/tags/tag16.xml><?xml version="1.0" encoding="utf-8"?>
<p:tagLst xmlns:p="http://schemas.openxmlformats.org/presentationml/2006/main">
  <p:tag name="KSO_WM_DIAGRAM_VIRTUALLY_FRAME" val="{&quot;height&quot;:464.3,&quot;left&quot;:14.05,&quot;top&quot;:57.05,&quot;width&quot;:891.0163955757969}"/>
</p:tagLst>
</file>

<file path=ppt/tags/tag17.xml><?xml version="1.0" encoding="utf-8"?>
<p:tagLst xmlns:p="http://schemas.openxmlformats.org/presentationml/2006/main">
  <p:tag name="KSO_WM_DIAGRAM_VIRTUALLY_FRAME" val="{&quot;height&quot;:360,&quot;left&quot;:347.3,&quot;top&quot;:125.85,&quot;width&quot;:520}"/>
</p:tagLst>
</file>

<file path=ppt/tags/tag18.xml><?xml version="1.0" encoding="utf-8"?>
<p:tagLst xmlns:p="http://schemas.openxmlformats.org/presentationml/2006/main">
  <p:tag name="KSO_WM_DIAGRAM_VIRTUALLY_FRAME" val="{&quot;height&quot;:360,&quot;left&quot;:347.3,&quot;top&quot;:125.85,&quot;width&quot;:520}"/>
</p:tagLst>
</file>

<file path=ppt/tags/tag19.xml><?xml version="1.0" encoding="utf-8"?>
<p:tagLst xmlns:p="http://schemas.openxmlformats.org/presentationml/2006/main">
  <p:tag name="KSO_WM_DIAGRAM_VIRTUALLY_FRAME" val="{&quot;height&quot;:360,&quot;left&quot;:347.3,&quot;top&quot;:125.85,&quot;width&quot;:520}"/>
</p:tagLst>
</file>

<file path=ppt/tags/tag20.xml><?xml version="1.0" encoding="utf-8"?>
<p:tagLst xmlns:p="http://schemas.openxmlformats.org/presentationml/2006/main">
  <p:tag name="KSO_WM_DIAGRAM_VIRTUALLY_FRAME" val="{&quot;height&quot;:360,&quot;left&quot;:347.3,&quot;top&quot;:125.85,&quot;width&quot;:520}"/>
</p:tagLst>
</file>

<file path=ppt/tags/tag21.xml><?xml version="1.0" encoding="utf-8"?>
<p:tagLst xmlns:p="http://schemas.openxmlformats.org/presentationml/2006/main">
  <p:tag name="KSO_WM_DIAGRAM_VIRTUALLY_FRAME" val="{&quot;height&quot;:360,&quot;left&quot;:347.3,&quot;top&quot;:125.85,&quot;width&quot;:520}"/>
</p:tagLst>
</file>

<file path=ppt/tags/tag22.xml><?xml version="1.0" encoding="utf-8"?>
<p:tagLst xmlns:p="http://schemas.openxmlformats.org/presentationml/2006/main">
  <p:tag name="KSO_WM_DIAGRAM_VIRTUALLY_FRAME" val="{&quot;height&quot;:360,&quot;left&quot;:347.3,&quot;top&quot;:125.85,&quot;width&quot;:520}"/>
</p:tagLst>
</file>

<file path=ppt/tags/tag23.xml><?xml version="1.0" encoding="utf-8"?>
<p:tagLst xmlns:p="http://schemas.openxmlformats.org/presentationml/2006/main">
  <p:tag name="KSO_WM_DIAGRAM_VIRTUALLY_FRAME" val="{&quot;height&quot;:360,&quot;left&quot;:347.3,&quot;top&quot;:125.85,&quot;width&quot;:520}"/>
</p:tagLst>
</file>

<file path=ppt/tags/tag24.xml><?xml version="1.0" encoding="utf-8"?>
<p:tagLst xmlns:p="http://schemas.openxmlformats.org/presentationml/2006/main">
  <p:tag name="KSO_WM_DIAGRAM_VIRTUALLY_FRAME" val="{&quot;height&quot;:360,&quot;left&quot;:347.3,&quot;top&quot;:125.85,&quot;width&quot;:520}"/>
</p:tagLst>
</file>

<file path=ppt/tags/tag25.xml><?xml version="1.0" encoding="utf-8"?>
<p:tagLst xmlns:p="http://schemas.openxmlformats.org/presentationml/2006/main">
  <p:tag name="KSO_WM_DIAGRAM_VIRTUALLY_FRAME" val="{&quot;height&quot;:360,&quot;left&quot;:347.3,&quot;top&quot;:125.85,&quot;width&quot;:520}"/>
</p:tagLst>
</file>

<file path=ppt/tags/tag26.xml><?xml version="1.0" encoding="utf-8"?>
<p:tagLst xmlns:p="http://schemas.openxmlformats.org/presentationml/2006/main">
  <p:tag name="KSO_WM_DIAGRAM_VIRTUALLY_FRAME" val="{&quot;height&quot;:360,&quot;left&quot;:347.3,&quot;top&quot;:125.85,&quot;width&quot;:520}"/>
</p:tagLst>
</file>

<file path=ppt/tags/tag27.xml><?xml version="1.0" encoding="utf-8"?>
<p:tagLst xmlns:p="http://schemas.openxmlformats.org/presentationml/2006/main">
  <p:tag name="KSO_WM_DIAGRAM_VIRTUALLY_FRAME" val="{&quot;height&quot;:360,&quot;left&quot;:347.3,&quot;top&quot;:125.85,&quot;width&quot;:520}"/>
</p:tagLst>
</file>

<file path=ppt/tags/tag28.xml><?xml version="1.0" encoding="utf-8"?>
<p:tagLst xmlns:p="http://schemas.openxmlformats.org/presentationml/2006/main">
  <p:tag name="KSO_WM_DIAGRAM_VIRTUALLY_FRAME" val="{&quot;height&quot;:360,&quot;left&quot;:347.3,&quot;top&quot;:125.85,&quot;width&quot;:520}"/>
</p:tagLst>
</file>

<file path=ppt/tags/tag29.xml><?xml version="1.0" encoding="utf-8"?>
<p:tagLst xmlns:p="http://schemas.openxmlformats.org/presentationml/2006/main">
  <p:tag name="KSO_WM_DIAGRAM_VIRTUALLY_FRAME" val="{&quot;height&quot;:360,&quot;left&quot;:347.3,&quot;top&quot;:125.85,&quot;width&quot;:520}"/>
</p:tagLst>
</file>

<file path=ppt/tags/tag30.xml><?xml version="1.0" encoding="utf-8"?>
<p:tagLst xmlns:p="http://schemas.openxmlformats.org/presentationml/2006/main">
  <p:tag name="KSO_WM_DIAGRAM_VIRTUALLY_FRAME" val="{&quot;height&quot;:360,&quot;left&quot;:347.3,&quot;top&quot;:125.85,&quot;width&quot;:520}"/>
</p:tagLst>
</file>

<file path=ppt/tags/tag31.xml><?xml version="1.0" encoding="utf-8"?>
<p:tagLst xmlns:p="http://schemas.openxmlformats.org/presentationml/2006/main">
  <p:tag name="KSO_WM_DIAGRAM_VIRTUALLY_FRAME" val="{&quot;height&quot;:360,&quot;left&quot;:347.3,&quot;top&quot;:125.85,&quot;width&quot;:520}"/>
</p:tagLst>
</file>

<file path=ppt/tags/tag32.xml><?xml version="1.0" encoding="utf-8"?>
<p:tagLst xmlns:p="http://schemas.openxmlformats.org/presentationml/2006/main">
  <p:tag name="KSO_WM_DIAGRAM_VIRTUALLY_FRAME" val="{&quot;height&quot;:360,&quot;left&quot;:347.3,&quot;top&quot;:125.85,&quot;width&quot;:52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2469</Words>
  <Application>WPS 演示</Application>
  <PresentationFormat/>
  <Paragraphs>161</Paragraphs>
  <Slides>9</Slides>
  <Notes>0</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9</vt:i4>
      </vt:variant>
    </vt:vector>
  </HeadingPairs>
  <TitlesOfParts>
    <vt:vector size="28" baseType="lpstr">
      <vt:lpstr>Arial</vt:lpstr>
      <vt:lpstr>宋体</vt:lpstr>
      <vt:lpstr>Wingdings</vt:lpstr>
      <vt:lpstr>Arial</vt:lpstr>
      <vt:lpstr>Bahnschrift SemiBold</vt:lpstr>
      <vt:lpstr>Poppins</vt:lpstr>
      <vt:lpstr>Segoe Print</vt:lpstr>
      <vt:lpstr>Consolas</vt:lpstr>
      <vt:lpstr>微软雅黑</vt:lpstr>
      <vt:lpstr>Noto Sans SC</vt:lpstr>
      <vt:lpstr>Arial Black</vt:lpstr>
      <vt:lpstr>Arial Unicode MS</vt:lpstr>
      <vt:lpstr>Office 主题​​</vt:lpstr>
      <vt:lpstr>默认主题</vt:lpstr>
      <vt:lpstr>1_默认主题</vt:lpstr>
      <vt:lpstr>2_默认主题</vt:lpstr>
      <vt:lpstr>3_默认主题</vt:lpstr>
      <vt:lpstr>4_默认主题</vt:lpstr>
      <vt:lpstr>5_默认主题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Mastain</cp:lastModifiedBy>
  <cp:revision>45</cp:revision>
  <dcterms:created xsi:type="dcterms:W3CDTF">2026-04-14T08:16:00Z</dcterms:created>
  <dcterms:modified xsi:type="dcterms:W3CDTF">2026-04-21T14:25:23Z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235B80FE8F954922BD8659A53F20043A_12</vt:lpwstr>
  </property>
</Properties>
</file>